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df5254afa4289" /><Relationship Type="http://schemas.openxmlformats.org/officeDocument/2006/relationships/extended-properties" Target="/docProps/app.xml" Id="Rca65a82060aa4e3f" /><Relationship Type="http://schemas.openxmlformats.org/officeDocument/2006/relationships/officeDocument" Target="/ppt/presentation.xml" Id="R560a96be725d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944aafe70640d1"/>
  </p:sldMasterIdLst>
  <p:notesMasterIdLst>
    <p:notesMasterId xmlns:r="http://schemas.openxmlformats.org/officeDocument/2006/relationships" r:id="R4308e680746d4ab8"/>
  </p:notesMasterIdLst>
  <p:sldIdLst>
    <p:sldId xmlns:r="http://schemas.openxmlformats.org/officeDocument/2006/relationships" id="256" r:id="R04d41a4d45a24ca2"/>
    <p:sldId xmlns:r="http://schemas.openxmlformats.org/officeDocument/2006/relationships" id="257" r:id="R249a67276e52426b"/>
    <p:sldId xmlns:r="http://schemas.openxmlformats.org/officeDocument/2006/relationships" id="258" r:id="Ref346d0fa51f453f"/>
    <p:sldId xmlns:r="http://schemas.openxmlformats.org/officeDocument/2006/relationships" id="259" r:id="R841b483cf0704f94"/>
    <p:sldId xmlns:r="http://schemas.openxmlformats.org/officeDocument/2006/relationships" id="260" r:id="R40f85dd759e0445b"/>
    <p:sldId xmlns:r="http://schemas.openxmlformats.org/officeDocument/2006/relationships" id="261" r:id="R6cf02c154fce4808"/>
    <p:sldId xmlns:r="http://schemas.openxmlformats.org/officeDocument/2006/relationships" id="262" r:id="R9add20e376b145d0"/>
    <p:sldId xmlns:r="http://schemas.openxmlformats.org/officeDocument/2006/relationships" id="263" r:id="Rd7b4d459caec4667"/>
    <p:sldId xmlns:r="http://schemas.openxmlformats.org/officeDocument/2006/relationships" id="264" r:id="R97cd896304f2431c"/>
    <p:sldId xmlns:r="http://schemas.openxmlformats.org/officeDocument/2006/relationships" id="265" r:id="R77559fe8186144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719adc6c1949f8" /><Relationship Type="http://schemas.openxmlformats.org/officeDocument/2006/relationships/slideMaster" Target="/ppt/slideMasters/slideMaster1.xml" Id="Rad944aafe70640d1" /><Relationship Type="http://schemas.openxmlformats.org/officeDocument/2006/relationships/notesMaster" Target="/ppt/notesMasters/notesMaster1.xml" Id="R4308e680746d4ab8" /><Relationship Type="http://schemas.openxmlformats.org/officeDocument/2006/relationships/presProps" Target="/ppt/presProps.xml" Id="Rd96698a9ea834250" /><Relationship Type="http://schemas.openxmlformats.org/officeDocument/2006/relationships/tableStyles" Target="/ppt/tableStyles.xml" Id="Rd4ea274d221f447b" /><Relationship Type="http://schemas.openxmlformats.org/officeDocument/2006/relationships/slide" Target="/ppt/slides/slide1.xml" Id="R04d41a4d45a24ca2" /><Relationship Type="http://schemas.openxmlformats.org/officeDocument/2006/relationships/slide" Target="/ppt/slides/slide2.xml" Id="R249a67276e52426b" /><Relationship Type="http://schemas.openxmlformats.org/officeDocument/2006/relationships/slide" Target="/ppt/slides/slide3.xml" Id="Ref346d0fa51f453f" /><Relationship Type="http://schemas.openxmlformats.org/officeDocument/2006/relationships/slide" Target="/ppt/slides/slide4.xml" Id="R841b483cf0704f94" /><Relationship Type="http://schemas.openxmlformats.org/officeDocument/2006/relationships/slide" Target="/ppt/slides/slide5.xml" Id="R40f85dd759e0445b" /><Relationship Type="http://schemas.openxmlformats.org/officeDocument/2006/relationships/slide" Target="/ppt/slides/slide6.xml" Id="R6cf02c154fce4808" /><Relationship Type="http://schemas.openxmlformats.org/officeDocument/2006/relationships/slide" Target="/ppt/slides/slide7.xml" Id="R9add20e376b145d0" /><Relationship Type="http://schemas.openxmlformats.org/officeDocument/2006/relationships/slide" Target="/ppt/slides/slide8.xml" Id="Rd7b4d459caec4667" /><Relationship Type="http://schemas.openxmlformats.org/officeDocument/2006/relationships/slide" Target="/ppt/slides/slide9.xml" Id="R97cd896304f2431c" /><Relationship Type="http://schemas.openxmlformats.org/officeDocument/2006/relationships/slide" Target="/ppt/slides/slide10.xml" Id="R77559fe8186144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e7db6008cf4b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b34e55fba4235" /><Relationship Type="http://schemas.openxmlformats.org/officeDocument/2006/relationships/notesMaster" Target="/ppt/notesMasters/notesMaster1.xml" Id="Re0eabb2306b045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2e520614ef499b" /><Relationship Type="http://schemas.openxmlformats.org/officeDocument/2006/relationships/notesMaster" Target="/ppt/notesMasters/notesMaster1.xml" Id="R088a05a99ba7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80aaaa17ec42ab" /><Relationship Type="http://schemas.openxmlformats.org/officeDocument/2006/relationships/notesMaster" Target="/ppt/notesMasters/notesMaster1.xml" Id="R457f37e948054b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bdbe3c2a86434a" /><Relationship Type="http://schemas.openxmlformats.org/officeDocument/2006/relationships/notesMaster" Target="/ppt/notesMasters/notesMaster1.xml" Id="R9f9720f4264841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083e27d6254721" /><Relationship Type="http://schemas.openxmlformats.org/officeDocument/2006/relationships/notesMaster" Target="/ppt/notesMasters/notesMaster1.xml" Id="Rf3d13f96f5b14b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9a79e588194894" /><Relationship Type="http://schemas.openxmlformats.org/officeDocument/2006/relationships/notesMaster" Target="/ppt/notesMasters/notesMaster1.xml" Id="R9087062d482d4a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485ce859734ab7" /><Relationship Type="http://schemas.openxmlformats.org/officeDocument/2006/relationships/notesMaster" Target="/ppt/notesMasters/notesMaster1.xml" Id="Rf88f3b3bd62249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edbd045340434a" /><Relationship Type="http://schemas.openxmlformats.org/officeDocument/2006/relationships/notesMaster" Target="/ppt/notesMasters/notesMaster1.xml" Id="R4c93f44525454b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19a4ab623f4928" /><Relationship Type="http://schemas.openxmlformats.org/officeDocument/2006/relationships/notesMaster" Target="/ppt/notesMasters/notesMaster1.xml" Id="R2cf0db672dc842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233832811b4d61" /><Relationship Type="http://schemas.openxmlformats.org/officeDocument/2006/relationships/notesMaster" Target="/ppt/notesMasters/notesMaster1.xml" Id="Raecb865c98f540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fe2723fe7d42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a69151ff84b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98ebbd63241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e2ed3a2d54d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f5d029b4a4d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86b278bd242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3C9634-2C9D-41B1-99D5-7B1A96E42C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B9ABF2-52E4-4BA8-AE06-F59E7815A2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01F1D3-FB69-44D8-BFD9-E50789549B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2937F3-D6AD-4EB8-8CCA-439AFEBCA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F6AB27-C0CE-4A07-B747-6F7B73427A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A2262F-B5D0-4C1F-9B08-7C682DB0E4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7A1D91-9596-44B6-B72B-B618E69023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6ABF1A-EBF5-43E7-9676-2B14E98D57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5D2392-E12F-4808-8F86-151F232FB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CF4F26-E359-45D0-BF69-CEE0805D4D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8bfd5580be404d" /><Relationship Type="http://schemas.openxmlformats.org/officeDocument/2006/relationships/slideLayout" Target="/ppt/slideLayouts/slideLayout1.xml" Id="Rf80e2780573f4b3b" /><Relationship Type="http://schemas.openxmlformats.org/officeDocument/2006/relationships/slideLayout" Target="/ppt/slideLayouts/slideLayout2.xml" Id="Rf7f7222c27f84bd4" /><Relationship Type="http://schemas.openxmlformats.org/officeDocument/2006/relationships/slideLayout" Target="/ppt/slideLayouts/slideLayout3.xml" Id="Rb95dbeeb0d534f06" /><Relationship Type="http://schemas.openxmlformats.org/officeDocument/2006/relationships/slideLayout" Target="/ppt/slideLayouts/slideLayout4.xml" Id="Rb9465142648449e3" /><Relationship Type="http://schemas.openxmlformats.org/officeDocument/2006/relationships/slideLayout" Target="/ppt/slideLayouts/slideLayout5.xml" Id="R1ef7234c6b634042" /><Relationship Type="http://schemas.openxmlformats.org/officeDocument/2006/relationships/slideLayout" Target="/ppt/slideLayouts/slideLayout6.xml" Id="R5328903bb0064d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0e2780573f4b3b"/>
    <p:sldLayoutId xmlns:r="http://schemas.openxmlformats.org/officeDocument/2006/relationships" id="2147483650" r:id="Rf7f7222c27f84bd4"/>
    <p:sldLayoutId xmlns:r="http://schemas.openxmlformats.org/officeDocument/2006/relationships" id="2147483651" r:id="Rb95dbeeb0d534f06"/>
    <p:sldLayoutId xmlns:r="http://schemas.openxmlformats.org/officeDocument/2006/relationships" id="2147483652" r:id="Rb9465142648449e3"/>
    <p:sldLayoutId xmlns:r="http://schemas.openxmlformats.org/officeDocument/2006/relationships" id="2147483653" r:id="R1ef7234c6b634042"/>
    <p:sldLayoutId xmlns:r="http://schemas.openxmlformats.org/officeDocument/2006/relationships" id="2147483654" r:id="R5328903bb0064d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ab468b931430e" /><Relationship Type="http://schemas.openxmlformats.org/officeDocument/2006/relationships/notesSlide" Target="/ppt/notesSlides/notesSlide1.xml" Id="R9fd96a0d558c4f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3718e2603e4f69" /><Relationship Type="http://schemas.openxmlformats.org/officeDocument/2006/relationships/notesSlide" Target="/ppt/notesSlides/notesSlide2.xml" Id="R1b0fdbaf154444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fc6ff01134be5" /><Relationship Type="http://schemas.openxmlformats.org/officeDocument/2006/relationships/notesSlide" Target="/ppt/notesSlides/notesSlide3.xml" Id="R8181597308a444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1f35b28a44f4f" /><Relationship Type="http://schemas.openxmlformats.org/officeDocument/2006/relationships/notesSlide" Target="/ppt/notesSlides/notesSlide4.xml" Id="R853a205d3b4b48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f35ec11544c13" /><Relationship Type="http://schemas.openxmlformats.org/officeDocument/2006/relationships/notesSlide" Target="/ppt/notesSlides/notesSlide5.xml" Id="R7b8302bffeb747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949dc5ecc54588" /><Relationship Type="http://schemas.openxmlformats.org/officeDocument/2006/relationships/chart" Target="/ppt/slides/charts/chart1.xml" Id="Rda875505e0d542d4" /><Relationship Type="http://schemas.openxmlformats.org/officeDocument/2006/relationships/notesSlide" Target="/ppt/notesSlides/notesSlide6.xml" Id="R9631548f1b8d48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e3f31a5e04129" /><Relationship Type="http://schemas.openxmlformats.org/officeDocument/2006/relationships/image" Target="/ppt/media/image.png" Id="R617d6ab59db544d7" /><Relationship Type="http://schemas.openxmlformats.org/officeDocument/2006/relationships/image" Target="/ppt/media/image2.png" Id="R1e6f426e724642f0" /><Relationship Type="http://schemas.openxmlformats.org/officeDocument/2006/relationships/notesSlide" Target="/ppt/notesSlides/notesSlide7.xml" Id="R985fac8c554241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f697611534bd9" /><Relationship Type="http://schemas.openxmlformats.org/officeDocument/2006/relationships/image" Target="/ppt/media/image3.png" Id="R99395edd06a14f72" /><Relationship Type="http://schemas.openxmlformats.org/officeDocument/2006/relationships/image" Target="/ppt/media/image4.png" Id="Rd0e5a56cf9c0419d" /><Relationship Type="http://schemas.openxmlformats.org/officeDocument/2006/relationships/notesSlide" Target="/ppt/notesSlides/notesSlide8.xml" Id="R79881abb33f34b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d93d5efc7413c" /><Relationship Type="http://schemas.openxmlformats.org/officeDocument/2006/relationships/notesSlide" Target="/ppt/notesSlides/notesSlide9.xml" Id="Raa362841017a43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ad2dd0e0745f0" /><Relationship Type="http://schemas.openxmlformats.org/officeDocument/2006/relationships/notesSlide" Target="/ppt/notesSlides/notesSlide10.xml" Id="Rc8631241c9454e7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Monthly income and expenses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Income</c:v>
          </c:tx>
          <c:spPr>
            <a:solidFill xmlns:a="http://schemas.openxmlformats.org/drawingml/2006/main">
              <a:srgbClr val="1E6F5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65000</c:v>
                </c:pt>
                <c:pt idx="1">
                  <c:v>73500</c:v>
                </c:pt>
                <c:pt idx="2">
                  <c:v>65000</c:v>
                </c:pt>
                <c:pt idx="3">
                  <c:v>77000</c:v>
                </c:pt>
              </c:numCache>
            </c:numRef>
          </c:val>
        </c:ser>
        <c:ser>
          <c:idx val="1"/>
          <c:order val="1"/>
          <c:tx>
            <c:v>Expenses</c:v>
          </c:tx>
          <c:spPr>
            <a:solidFill xmlns:a="http://schemas.openxmlformats.org/drawingml/2006/main">
              <a:srgbClr val="C78A20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24700</c:v>
                </c:pt>
                <c:pt idx="1">
                  <c:v>27600</c:v>
                </c:pt>
                <c:pt idx="2">
                  <c:v>28400</c:v>
                </c:pt>
                <c:pt idx="3">
                  <c:v>31250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INR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61E38-15D9-4371-A89A-BFB89324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 Budget Expense Tracker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22EEC-96C3-45BD-9B9D-DA101678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Analysis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57A54-809C-43B0-801D-C810589D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FE5DE"/>
                </a:solidFill>
                <a:latin typeface="Arial"/>
                <a:ea typeface="Arial"/>
                <a:cs typeface="Arial"/>
              </a:rPr>
              <a:t>Flask, MySQL, Pandas, NumPy and Matplotlib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2D45C-F0D5-48FD-96CB-9D792710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5DE"/>
                </a:solidFill>
                <a:latin typeface="Arial"/>
                <a:ea typeface="Arial"/>
                <a:cs typeface="Arial"/>
              </a:rPr>
              <a:t>Project 8  |  Academic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108786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66D46-449C-4FCE-8B3C-4A84D5D5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Problem, objective and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811E7-07D8-4592-955F-1D0A4492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Household records need a reliable monthly view of spending, savings, and budget exceptions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E4066-F996-4FB8-91A9-2D2CFAB4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E6CE1-B22C-4851-8EAD-F91268A7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9AB4A-4780-4241-9E43-A396C318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Individual purchases do not reveal category totals or monthly savings.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F584B-4017-49E9-87FD-11A9BD3D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Budget overruns are easy to miss without calculated comparisons.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5AC72-C2D4-465A-84F3-E344CB88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3466D-66C1-4E01-8299-58307633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Record valid income and expense transactions.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F015F-47AA-4786-A4EB-91F02D80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Calculate savings, category share, and budget status from stored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11C13-17E3-46EF-8932-259F69E4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Provide accessible local reports and visual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D6C46-94DB-4528-8FDF-99ADA83C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Boundary: one trusted local user enters records manually. No bank feeds, payment processing, credential storage, or financial advice.</a:t>
            </a:r>
          </a:p>
        </p:txBody>
      </p:sp>
    </p:spTree>
    <p:extLst>
      <p:ext uri="{BB962C8B-B14F-4D97-AF65-F5344CB8AC3E}">
        <p14:creationId xmlns:p14="http://schemas.microsoft.com/office/powerpoint/2010/main" val="16376460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927F7-FDC4-4D6E-B73A-677C10CA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31923-DB3F-4F0A-9075-7C1B25B6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A modular Flask design keeps business calculations outside route handlers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79A7F-4954-4281-935B-D8FA0493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0023A-4EE9-46B2-8F28-5E339246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4078A-673E-4D13-B282-5347E7E6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Responsive Flask and Jinja pages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JSON endpoints for automation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CSRF-protected browser forms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498CC-5023-4AF5-AE65-DCDA3F42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06B0A-46EB-43CC-9125-6D8D6603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Validation and decimal rules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Analytics with Pandas and NumPy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Charts and CSV report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2C697-F0B2-4012-A1FC-7A623E4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25EDB-FD83-4CA9-AF3B-103B5310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SQLAlchemy models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MySQL target through DATABASE_URL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SQLite demo and test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6FA11-6952-48A7-BCF3-EB34828F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Flow: browser or API → Flask blueprint → validation/service → SQLAlchemy models → database → derived analytics and charts</a:t>
            </a:r>
          </a:p>
        </p:txBody>
      </p:sp>
    </p:spTree>
    <p:extLst>
      <p:ext uri="{BB962C8B-B14F-4D97-AF65-F5344CB8AC3E}">
        <p14:creationId xmlns:p14="http://schemas.microsoft.com/office/powerpoint/2010/main" val="19348981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B3519-A684-462F-9175-56A671D6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787C0-372B-49E8-96A3-66F2954E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Three normalized tables preserve categories, records, and month-specific allocations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42CAC-C707-489B-89D2-E9B52418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90FA8-7FD6-494D-8279-5F0C661A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12EBF-D5D0-4D2E-BBC8-CE9B3292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name, kind, created_at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Unique: name + kind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One category classifies transactions and budgets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4F39E-DBF0-4CD3-90C1-57F490AC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93DDE-144C-4CA2-967E-090E2DA2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85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date, type, category_id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DECIMAL(12,2) amount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description, payment method, timestamps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Date/type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011C7-CBFC-41D4-9586-E73C4D31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monthly_budgets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9D299-0AF9-498D-92CE-F3BA362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category_id, month, year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DECIMAL(12,2) amount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Unique: category + month +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86BCA-64E4-49D0-A157-1E790B89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Foreign keys use restricted deletion so historic reports keep valid category references.</a:t>
            </a:r>
          </a:p>
        </p:txBody>
      </p:sp>
    </p:spTree>
    <p:extLst>
      <p:ext uri="{BB962C8B-B14F-4D97-AF65-F5344CB8AC3E}">
        <p14:creationId xmlns:p14="http://schemas.microsoft.com/office/powerpoint/2010/main" val="6726506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AC1BC-A7FB-4916-A734-7041A0A4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Financial 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E9030-2483-430E-92E8-4FB55382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Each metric uses database records and returns guarded, two-decimal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B4917-4557-4142-8414-06BD4A52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6C0C4-3358-4625-9097-67CE10A3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Net savings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EF096-89C7-42EA-817D-297F10DA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Income − Expenses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73F7F-9AE2-4E59-91FA-963FC3D8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Savings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739B2-6243-41E8-9CAA-182691DB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(Net savings ÷ Income) × 100; returns 0% when income is zero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730CF-ECC2-4F87-8519-57D5A522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Budget utilization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FF25B-A1AD-4587-8058-FEC4F6B3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(Actual category expense ÷ Budget) ×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444FE-8F69-412C-BFC4-FDE885ED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Remaining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BDE10-C9CA-4B0F-ABA3-2653683D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Budget − Actual expense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2D124-530B-4475-A565-C0D0C18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Budget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F9569-0505-4AE8-A8B2-521AB6AF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Actual expense −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3388D-FFC8-4F6D-901A-1FFCD94A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8A20"/>
                </a:solidFill>
                <a:latin typeface="Arial"/>
                <a:ea typeface="Arial"/>
                <a:cs typeface="Arial"/>
              </a:rPr>
              <a:t>Example: ₹5,000 budget and ₹5,750 actual expense means ₹750 overspending and 115% utilization.</a:t>
            </a:r>
          </a:p>
        </p:txBody>
      </p:sp>
    </p:spTree>
    <p:extLst>
      <p:ext uri="{BB962C8B-B14F-4D97-AF65-F5344CB8AC3E}">
        <p14:creationId xmlns:p14="http://schemas.microsoft.com/office/powerpoint/2010/main" val="18714328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21666-C624-496D-A934-6CDD16C9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Verified sample-data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61B32-EE0E-4A65-8CC0-4B3F28E9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Synthetic July–October 2026 records produced reproducible monthly totals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715BD-194E-4C66-A59D-D2A16BAB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556817B-5F79-433D-9569-21A20BBCDDD1}"/>
              </a:ext>
            </a:extLst>
          </p:cNvPr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6191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875505e0d542d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9A159-D67E-4944-A177-6BFDD55D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Recorded totals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03CD4-1061-45A0-BBA9-3FF1F21A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Income: ₹280,500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Expenses: ₹111,950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Savings: ₹168,550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Highest spending category: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Rent and Housing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76056-CDFD-44AF-8982-56BEB172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911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Chart data comes from the idempotent demo seed, not hard-coded dashboard values.</a:t>
            </a:r>
          </a:p>
        </p:txBody>
      </p:sp>
    </p:spTree>
    <p:extLst>
      <p:ext uri="{BB962C8B-B14F-4D97-AF65-F5344CB8AC3E}">
        <p14:creationId xmlns:p14="http://schemas.microsoft.com/office/powerpoint/2010/main" val="18526390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FD622-B66C-4D80-B26C-4AE76C78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Live visualizations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7E834-998C-46F7-91E3-96458EF5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Charts use selected stored records and show no-data states when no records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DA33E-57DB-4E0D-BF5A-E6DFE6DF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440B0-F01A-498C-AB3B-548EA0476B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d6ab59db544d7"/>
          <a:stretch xmlns:a="http://schemas.openxmlformats.org/drawingml/2006/main"/>
        </p:blipFill>
        <p:spPr>
          <a:xfrm xmlns:a="http://schemas.openxmlformats.org/drawingml/2006/main">
            <a:off x="1354396" y="1695450"/>
            <a:ext cx="3730108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D33DD-C109-44FE-A3A0-B47B371A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Expense distribution by category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93D68-393D-49D0-BA90-FBA84D3C09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f426e724642f0"/>
          <a:stretch xmlns:a="http://schemas.openxmlformats.org/drawingml/2006/main"/>
        </p:blipFill>
        <p:spPr>
          <a:xfrm xmlns:a="http://schemas.openxmlformats.org/drawingml/2006/main">
            <a:off x="6381750" y="1934351"/>
            <a:ext cx="5143500" cy="28559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16FF9-B501-473B-A9AD-0B0E1039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Monthly income versus expenses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6D952-7D45-492A-93F6-9006E63D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Each chart names its subject, identifies INR where applicable, and uses records retrieved from the database.</a:t>
            </a:r>
          </a:p>
        </p:txBody>
      </p:sp>
    </p:spTree>
    <p:extLst>
      <p:ext uri="{BB962C8B-B14F-4D97-AF65-F5344CB8AC3E}">
        <p14:creationId xmlns:p14="http://schemas.microsoft.com/office/powerpoint/2010/main" val="7682307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5F0D3-2B45-4649-B729-908CEFF6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Live visualizations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D55D1-A343-41D1-8954-74E5A886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Budget exceptions become visible alongside longer-term savings movement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DF76A-AC8B-4D82-BFD5-90539B9B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B47C4-2121-4573-92A5-57DA91CE1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95edd06a14f72"/>
          <a:stretch xmlns:a="http://schemas.openxmlformats.org/drawingml/2006/main"/>
        </p:blipFill>
        <p:spPr>
          <a:xfrm xmlns:a="http://schemas.openxmlformats.org/drawingml/2006/main">
            <a:off x="647700" y="1934351"/>
            <a:ext cx="5143500" cy="285594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0A471-746E-42CC-8A7B-8EF43427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Monthly savings trend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3244C-CED0-42B1-8783-ED1E10A8FE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5a56cf9c0419d"/>
          <a:stretch xmlns:a="http://schemas.openxmlformats.org/drawingml/2006/main"/>
        </p:blipFill>
        <p:spPr>
          <a:xfrm xmlns:a="http://schemas.openxmlformats.org/drawingml/2006/main">
            <a:off x="6381750" y="1935644"/>
            <a:ext cx="5143500" cy="28533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61BC6-4722-4ACC-9AF4-C2F878AC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Budget versus actual spending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9E575-BA56-4CA4-BFCB-45B11512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October Grocery spending exceeds its ₹5,000 budget. Rent matches its ₹18,000 demo allocation.</a:t>
            </a:r>
          </a:p>
        </p:txBody>
      </p:sp>
    </p:spTree>
    <p:extLst>
      <p:ext uri="{BB962C8B-B14F-4D97-AF65-F5344CB8AC3E}">
        <p14:creationId xmlns:p14="http://schemas.microsoft.com/office/powerpoint/2010/main" val="4182949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98C44-187E-4C72-8507-EEB656CF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Test evidence and reliability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7ED72-7096-468E-97E4-5DC0D4B8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Final local test run: 7 passed in 3.93 seconds on 2026-10-29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0D4A9-11D2-401D-BA81-9152FCF8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89249-9086-4575-AD58-D08C02EC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Transaction CRUD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C8B99-4120-4BD8-9D2F-ECB30536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47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Create, filter, update, delete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B373C-D49C-4A2F-AECB-8A048F67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47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93C53-4827-4FB1-A369-8D120AC1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Invalid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6D8DC-250B-455C-9719-836DA5EB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19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Bad dates, wrong categories, zero amounts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BD874-B8F3-464C-9F7B-D4BD904D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9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F6BB4-8B0B-4535-B15D-314AEADC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Monthly budgets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DE35A-397F-49F7-9A2E-E20BE4DA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90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Duplicate prevention and 150% overspend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4A444-7B13-40F7-954B-AA217084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90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136D4-DEC8-4D3C-83E6-DBD72174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220FE-96E6-4A54-9E86-D04D02C3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Formula-safe, filtered, and summary CSV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265A7-FC3E-4B2B-970C-45190962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62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FD04D-5852-4B7E-964A-EBB96A7B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Analytics and charts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17E2E-A553-4A7F-B12D-A096B16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33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Zero-data values and four chart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1F412-E5FE-467A-8EDA-BFD6A8B8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33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8FA0A-5EB0-46E4-A8BE-76F794E2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Controls: environment variables for secrets, SQLAlchemy parameterization, server-side validation, database constraints, CSRF tokens for browser forms, safe 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17031561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9C421-CA25-4C78-A033-C48DD9C0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Demonstration and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71C1E-7E24-422D-9178-64A1DA8C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The implementation supports a complete local workflow from record entry to verified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6F85D-6AF5-43E5-854F-34A780D5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7A8BD-C197-4A80-AE6A-837AE675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Initialize database and load repeatable demo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B5F5B-0E61-47ED-98A1-500254E7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Add income and expense records, then confirm dashboard totals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C4A1C-5562-415C-A0E7-DC1A9D2F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Set a category budget and observe an overspend alert.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C9044-D04D-4817-983F-A1B426BC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Review analytics, inspect a chart, and export a filtered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C1216-3942-4FC5-9B4C-AB295221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Run pytest and explain the evidence and known limitations.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7013F-DCEF-4C91-B3EE-D512CF47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8A20"/>
                </a:solidFill>
                <a:latin typeface="Arial"/>
                <a:ea typeface="Arial"/>
                <a:cs typeface="Arial"/>
              </a:rPr>
              <a:t>Known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E409B-0B43-4DC2-BF31-CAB31AD9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MySQL support is implemented but not verified in this workspace because no MySQL server or credentials were configured. SQLite validates the local demonstration path.</a:t>
            </a:r>
          </a:p>
        </p:txBody>
      </p:sp>
    </p:spTree>
    <p:extLst>
      <p:ext uri="{BB962C8B-B14F-4D97-AF65-F5344CB8AC3E}">
        <p14:creationId xmlns:p14="http://schemas.microsoft.com/office/powerpoint/2010/main" val="457614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2026-10-29T14:03:20.2700000Z</dcterms:created>
  <dcterms:modified xsi:type="dcterms:W3CDTF">2026-10-29T14:03:20.2700000Z</dcterms:modified>
</coreProperties>
</file>