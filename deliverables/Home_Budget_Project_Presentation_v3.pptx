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e84ad952b438f" /><Relationship Type="http://schemas.openxmlformats.org/officeDocument/2006/relationships/extended-properties" Target="/docProps/app.xml" Id="Raafac2c5a3ff478b" /><Relationship Type="http://schemas.openxmlformats.org/officeDocument/2006/relationships/officeDocument" Target="/ppt/presentation.xml" Id="Re4e35962a0374f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ab69caa0e74fd7"/>
  </p:sldMasterIdLst>
  <p:notesMasterIdLst>
    <p:notesMasterId xmlns:r="http://schemas.openxmlformats.org/officeDocument/2006/relationships" r:id="Rba015fa0adfe460e"/>
  </p:notesMasterIdLst>
  <p:sldIdLst>
    <p:sldId xmlns:r="http://schemas.openxmlformats.org/officeDocument/2006/relationships" id="256" r:id="Rf88d239851f64ee5"/>
    <p:sldId xmlns:r="http://schemas.openxmlformats.org/officeDocument/2006/relationships" id="257" r:id="Ra0d3da1025024fdb"/>
    <p:sldId xmlns:r="http://schemas.openxmlformats.org/officeDocument/2006/relationships" id="258" r:id="R21b19707638244e2"/>
    <p:sldId xmlns:r="http://schemas.openxmlformats.org/officeDocument/2006/relationships" id="259" r:id="Re020a91fd49b455a"/>
    <p:sldId xmlns:r="http://schemas.openxmlformats.org/officeDocument/2006/relationships" id="260" r:id="R9474749d75264144"/>
    <p:sldId xmlns:r="http://schemas.openxmlformats.org/officeDocument/2006/relationships" id="261" r:id="R11ef5cb3e26d44c3"/>
    <p:sldId xmlns:r="http://schemas.openxmlformats.org/officeDocument/2006/relationships" id="262" r:id="R949c9ca98de241c9"/>
    <p:sldId xmlns:r="http://schemas.openxmlformats.org/officeDocument/2006/relationships" id="263" r:id="R00c53b94c8454645"/>
    <p:sldId xmlns:r="http://schemas.openxmlformats.org/officeDocument/2006/relationships" id="264" r:id="Rf303b46d052d4db8"/>
    <p:sldId xmlns:r="http://schemas.openxmlformats.org/officeDocument/2006/relationships" id="265" r:id="R81082863d5e649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325f0f571b446f" /><Relationship Type="http://schemas.openxmlformats.org/officeDocument/2006/relationships/slideMaster" Target="/ppt/slideMasters/slideMaster1.xml" Id="Rf8ab69caa0e74fd7" /><Relationship Type="http://schemas.openxmlformats.org/officeDocument/2006/relationships/notesMaster" Target="/ppt/notesMasters/notesMaster1.xml" Id="Rba015fa0adfe460e" /><Relationship Type="http://schemas.openxmlformats.org/officeDocument/2006/relationships/presProps" Target="/ppt/presProps.xml" Id="R7ca606795ebf42ab" /><Relationship Type="http://schemas.openxmlformats.org/officeDocument/2006/relationships/tableStyles" Target="/ppt/tableStyles.xml" Id="Rf938a02f21dc42d7" /><Relationship Type="http://schemas.openxmlformats.org/officeDocument/2006/relationships/slide" Target="/ppt/slides/slide1.xml" Id="Rf88d239851f64ee5" /><Relationship Type="http://schemas.openxmlformats.org/officeDocument/2006/relationships/slide" Target="/ppt/slides/slide2.xml" Id="Ra0d3da1025024fdb" /><Relationship Type="http://schemas.openxmlformats.org/officeDocument/2006/relationships/slide" Target="/ppt/slides/slide3.xml" Id="R21b19707638244e2" /><Relationship Type="http://schemas.openxmlformats.org/officeDocument/2006/relationships/slide" Target="/ppt/slides/slide4.xml" Id="Re020a91fd49b455a" /><Relationship Type="http://schemas.openxmlformats.org/officeDocument/2006/relationships/slide" Target="/ppt/slides/slide5.xml" Id="R9474749d75264144" /><Relationship Type="http://schemas.openxmlformats.org/officeDocument/2006/relationships/slide" Target="/ppt/slides/slide6.xml" Id="R11ef5cb3e26d44c3" /><Relationship Type="http://schemas.openxmlformats.org/officeDocument/2006/relationships/slide" Target="/ppt/slides/slide7.xml" Id="R949c9ca98de241c9" /><Relationship Type="http://schemas.openxmlformats.org/officeDocument/2006/relationships/slide" Target="/ppt/slides/slide8.xml" Id="R00c53b94c8454645" /><Relationship Type="http://schemas.openxmlformats.org/officeDocument/2006/relationships/slide" Target="/ppt/slides/slide9.xml" Id="Rf303b46d052d4db8" /><Relationship Type="http://schemas.openxmlformats.org/officeDocument/2006/relationships/slide" Target="/ppt/slides/slide10.xml" Id="R81082863d5e649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743235eea9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c6a742624c4464" /><Relationship Type="http://schemas.openxmlformats.org/officeDocument/2006/relationships/notesMaster" Target="/ppt/notesMasters/notesMaster1.xml" Id="R37291680ead34c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4adfbb8a8d44ae" /><Relationship Type="http://schemas.openxmlformats.org/officeDocument/2006/relationships/notesMaster" Target="/ppt/notesMasters/notesMaster1.xml" Id="R13881e99c07546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2ffe4a113f4147" /><Relationship Type="http://schemas.openxmlformats.org/officeDocument/2006/relationships/notesMaster" Target="/ppt/notesMasters/notesMaster1.xml" Id="R32e7fd7e44714c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f6fa1c5eb540b2" /><Relationship Type="http://schemas.openxmlformats.org/officeDocument/2006/relationships/notesMaster" Target="/ppt/notesMasters/notesMaster1.xml" Id="Rd4502943e8ae4c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c3f8cad7714a09" /><Relationship Type="http://schemas.openxmlformats.org/officeDocument/2006/relationships/notesMaster" Target="/ppt/notesMasters/notesMaster1.xml" Id="R2f2517cc57704a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cd0c59346f4204" /><Relationship Type="http://schemas.openxmlformats.org/officeDocument/2006/relationships/notesMaster" Target="/ppt/notesMasters/notesMaster1.xml" Id="R1282ce5e46724a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bbada4d7bd4dca" /><Relationship Type="http://schemas.openxmlformats.org/officeDocument/2006/relationships/notesMaster" Target="/ppt/notesMasters/notesMaster1.xml" Id="Re13ffef60b0a42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f48d8319b04a6f" /><Relationship Type="http://schemas.openxmlformats.org/officeDocument/2006/relationships/notesMaster" Target="/ppt/notesMasters/notesMaster1.xml" Id="R375f88a5256444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ede845e0974d88" /><Relationship Type="http://schemas.openxmlformats.org/officeDocument/2006/relationships/notesMaster" Target="/ppt/notesMasters/notesMaster1.xml" Id="R19dc43b6cf2e40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f900a2ef5240ec" /><Relationship Type="http://schemas.openxmlformats.org/officeDocument/2006/relationships/notesMaster" Target="/ppt/notesMasters/notesMaster1.xml" Id="R22e8358a3eb34c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3246d2d3645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4e84cffd84b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fd9d40de945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0e54db31845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8b29cc23945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276d3afe34a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70B646-E80D-45C6-AD5D-E672A32C84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8D44E5-C2B5-43BA-9016-6B9E0F5A18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836709-AC94-4CB3-935D-91B6F45258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572FB2-D15F-435A-8E90-97D9EF7A6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9B3760-A782-4ECD-B2D9-1FA3F1C2B1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391A28-2837-4B8A-B1E6-8BD262C5D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2747F-3099-42D7-B002-4631823650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6FC96C-7CA6-43F7-BA6F-102EF28801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5250D8-9795-458E-919D-6895263AA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C5EBFB-9168-4311-9AE7-AA09C01BD9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22769c2f64f4f" /><Relationship Type="http://schemas.openxmlformats.org/officeDocument/2006/relationships/slideLayout" Target="/ppt/slideLayouts/slideLayout1.xml" Id="R29f1569b7dc14320" /><Relationship Type="http://schemas.openxmlformats.org/officeDocument/2006/relationships/slideLayout" Target="/ppt/slideLayouts/slideLayout2.xml" Id="R54733c43574343d2" /><Relationship Type="http://schemas.openxmlformats.org/officeDocument/2006/relationships/slideLayout" Target="/ppt/slideLayouts/slideLayout3.xml" Id="Rba006c8b46e440b3" /><Relationship Type="http://schemas.openxmlformats.org/officeDocument/2006/relationships/slideLayout" Target="/ppt/slideLayouts/slideLayout4.xml" Id="Rba497f6c33de40f4" /><Relationship Type="http://schemas.openxmlformats.org/officeDocument/2006/relationships/slideLayout" Target="/ppt/slideLayouts/slideLayout5.xml" Id="R6ca6682db3094cc6" /><Relationship Type="http://schemas.openxmlformats.org/officeDocument/2006/relationships/slideLayout" Target="/ppt/slideLayouts/slideLayout6.xml" Id="R9a52faf6edf74c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f1569b7dc14320"/>
    <p:sldLayoutId xmlns:r="http://schemas.openxmlformats.org/officeDocument/2006/relationships" id="2147483650" r:id="R54733c43574343d2"/>
    <p:sldLayoutId xmlns:r="http://schemas.openxmlformats.org/officeDocument/2006/relationships" id="2147483651" r:id="Rba006c8b46e440b3"/>
    <p:sldLayoutId xmlns:r="http://schemas.openxmlformats.org/officeDocument/2006/relationships" id="2147483652" r:id="Rba497f6c33de40f4"/>
    <p:sldLayoutId xmlns:r="http://schemas.openxmlformats.org/officeDocument/2006/relationships" id="2147483653" r:id="R6ca6682db3094cc6"/>
    <p:sldLayoutId xmlns:r="http://schemas.openxmlformats.org/officeDocument/2006/relationships" id="2147483654" r:id="R9a52faf6edf74c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e5ef665204779" /><Relationship Type="http://schemas.openxmlformats.org/officeDocument/2006/relationships/notesSlide" Target="/ppt/notesSlides/notesSlide1.xml" Id="R87d3c3bc6cea4b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d856468684e9d" /><Relationship Type="http://schemas.openxmlformats.org/officeDocument/2006/relationships/notesSlide" Target="/ppt/notesSlides/notesSlide2.xml" Id="R1f5e370b28574c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48f98bad84073" /><Relationship Type="http://schemas.openxmlformats.org/officeDocument/2006/relationships/notesSlide" Target="/ppt/notesSlides/notesSlide3.xml" Id="R80839cfe6cf3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fc350abe24634" /><Relationship Type="http://schemas.openxmlformats.org/officeDocument/2006/relationships/notesSlide" Target="/ppt/notesSlides/notesSlide4.xml" Id="R93ece14ec8a845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c23cddfcb422a" /><Relationship Type="http://schemas.openxmlformats.org/officeDocument/2006/relationships/notesSlide" Target="/ppt/notesSlides/notesSlide5.xml" Id="R34d50cbc2e2c4a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5b479b0844e00" /><Relationship Type="http://schemas.openxmlformats.org/officeDocument/2006/relationships/chart" Target="/ppt/slides/charts/chart1.xml" Id="R1bcc9bfb07eb40d1" /><Relationship Type="http://schemas.openxmlformats.org/officeDocument/2006/relationships/notesSlide" Target="/ppt/notesSlides/notesSlide6.xml" Id="R220671c1949844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7d12fadf24a14" /><Relationship Type="http://schemas.openxmlformats.org/officeDocument/2006/relationships/image" Target="/ppt/media/image.png" Id="Rdc11fdbd1027405d" /><Relationship Type="http://schemas.openxmlformats.org/officeDocument/2006/relationships/image" Target="/ppt/media/image2.png" Id="R5e5d458541c8462d" /><Relationship Type="http://schemas.openxmlformats.org/officeDocument/2006/relationships/notesSlide" Target="/ppt/notesSlides/notesSlide7.xml" Id="Ra1ce72cfa0bc43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1b5b5ee10406d" /><Relationship Type="http://schemas.openxmlformats.org/officeDocument/2006/relationships/image" Target="/ppt/media/image3.png" Id="R425b08905bea4106" /><Relationship Type="http://schemas.openxmlformats.org/officeDocument/2006/relationships/image" Target="/ppt/media/image4.png" Id="R8e192d2675044ef1" /><Relationship Type="http://schemas.openxmlformats.org/officeDocument/2006/relationships/notesSlide" Target="/ppt/notesSlides/notesSlide8.xml" Id="R25786dcd3e4a42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8c7208e7d4d17" /><Relationship Type="http://schemas.openxmlformats.org/officeDocument/2006/relationships/notesSlide" Target="/ppt/notesSlides/notesSlide9.xml" Id="R1ee81eaf6d3a43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1260133054c7f" /><Relationship Type="http://schemas.openxmlformats.org/officeDocument/2006/relationships/notesSlide" Target="/ppt/notesSlides/notesSlide10.xml" Id="R8510574bc6884c5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Monthly income and expenses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Income</c:v>
          </c:tx>
          <c:spPr>
            <a:solidFill xmlns:a="http://schemas.openxmlformats.org/drawingml/2006/main">
              <a:srgbClr val="1E6F5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65000</c:v>
                </c:pt>
                <c:pt idx="1">
                  <c:v>73500</c:v>
                </c:pt>
                <c:pt idx="2">
                  <c:v>65000</c:v>
                </c:pt>
                <c:pt idx="3">
                  <c:v>77000</c:v>
                </c:pt>
              </c:numCache>
            </c:numRef>
          </c:val>
        </c:ser>
        <c:ser>
          <c:idx val="1"/>
          <c:order val="1"/>
          <c:tx>
            <c:v>Expenses</c:v>
          </c:tx>
          <c:spPr>
            <a:solidFill xmlns:a="http://schemas.openxmlformats.org/drawingml/2006/main">
              <a:srgbClr val="C78A20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24700</c:v>
                </c:pt>
                <c:pt idx="1">
                  <c:v>27600</c:v>
                </c:pt>
                <c:pt idx="2">
                  <c:v>28400</c:v>
                </c:pt>
                <c:pt idx="3">
                  <c:v>31250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INR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10886-8B76-4511-95FD-78CD3DF5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 Budget Expense Tracker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B9402-8424-4875-8508-ABFDBEB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Analysis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0E571-208C-49FD-860D-BDD0AF83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FE5DE"/>
                </a:solidFill>
                <a:latin typeface="Arial"/>
                <a:ea typeface="Arial"/>
                <a:cs typeface="Arial"/>
              </a:rPr>
              <a:t>Flask, MySQL, Pandas, NumPy and Matplotlib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3AAB5-3C0D-402C-AE31-CD592442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5DE"/>
                </a:solidFill>
                <a:latin typeface="Arial"/>
                <a:ea typeface="Arial"/>
                <a:cs typeface="Arial"/>
              </a:rPr>
              <a:t>Project 8  |  Academic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514509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8FDA0-AF38-44C4-8431-27831BEA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Problem, objective and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42072-02B7-4B35-8994-99363215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Household records need a reliable monthly view of spending, savings, and budget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3DFFD-7B3F-4C33-ABE5-C7AC7A8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A10B7-D19B-4B66-A006-44ADE2D0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5038D-5F71-4B01-8D0B-A19774FB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Individual purchases do not reveal category totals or monthly savings.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7CB6E-1B3A-4649-854D-75EDF705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Budget overruns are easy to miss without calculated comparisons.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3EB8C-4B60-48C8-B9E8-6246156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FB976-EEE6-4A77-A1B2-75476B21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Record valid income and expense transactions.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5B523-E107-47E1-9314-EE9B83DC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Calculate savings, category share, and budget status from stored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F1D59-3B1B-458A-AD9D-288E77F7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Provide accessible local reports and visual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84FC4-D1F0-4A7E-8AB9-2F194DA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Boundary: one trusted local user enters records manually. No bank feeds, payment processing, credential storage, or financial advice.</a:t>
            </a:r>
          </a:p>
        </p:txBody>
      </p:sp>
    </p:spTree>
    <p:extLst>
      <p:ext uri="{BB962C8B-B14F-4D97-AF65-F5344CB8AC3E}">
        <p14:creationId xmlns:p14="http://schemas.microsoft.com/office/powerpoint/2010/main" val="744389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9D6F8-FBD6-4E85-A992-A6B2109A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C3961-F737-4748-84AD-796C9FE9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A modular Flask design keeps business calculations outside route handlers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FF6A0-8666-4AE3-9EFD-453866ED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429BA-636D-4CEE-BFE8-BDF3FF3B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C3F4B-CB25-46D9-992B-3418D74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Responsive Flask and Jinja pages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JSON endpoints for automation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CSRF-protected browser 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E97CC-C536-4D28-9C8C-CCEBC80A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A9CDF-9F13-4E9D-A3C3-5D8979E6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Validation and decimal rules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Analytics with Pandas and NumPy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Charts and CSV report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6EEED-0AA6-48FB-A8DD-010A1C0F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67802-48AF-4566-B48E-F58A8DC5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SQLAlchemy models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MySQL target through DATABASE_URL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SQLite demo and test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C7738-EC8B-4E50-9980-E9EDE40B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Flow: browser or API → Flask blueprint → validation/service → SQLAlchemy models → database → derived analytics and charts</a:t>
            </a:r>
          </a:p>
        </p:txBody>
      </p:sp>
    </p:spTree>
    <p:extLst>
      <p:ext uri="{BB962C8B-B14F-4D97-AF65-F5344CB8AC3E}">
        <p14:creationId xmlns:p14="http://schemas.microsoft.com/office/powerpoint/2010/main" val="6912482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CE3CB-68C7-47CC-82BB-55878D86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D60A7-002B-4457-84D3-0F0D4BF3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Three normalized tables preserve categories, records, and month-specific allocations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289D0-27B2-48F0-97ED-D0C95BCA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1F493-41F3-41A7-A8FE-FA492677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43A24-56BF-4F51-89CE-887B572F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name, kind, created_at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Unique: name + kind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One category classifies transactions and budgets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8ADE3-668C-46F9-BBF6-D906D488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2475C-8FB9-4561-8F3C-E8620603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85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date, type, category_id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DECIMAL(12,2) amount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description, payment method, timestamps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Date/type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D5FA9-09B8-4C5D-973C-DCC4B5D5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monthly_budgets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EAE7E-4E31-4044-B7AE-1EDF2767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category_id, month, year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DECIMAL(12,2) amount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Unique: category + month +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7F2C2-FD66-4B67-9DA0-31C7066D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Foreign keys use restricted deletion so historic reports keep valid category references.</a:t>
            </a:r>
          </a:p>
        </p:txBody>
      </p:sp>
    </p:spTree>
    <p:extLst>
      <p:ext uri="{BB962C8B-B14F-4D97-AF65-F5344CB8AC3E}">
        <p14:creationId xmlns:p14="http://schemas.microsoft.com/office/powerpoint/2010/main" val="19382494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A6D08-C6D9-4BFE-A3FC-16B8A244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Financial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A3514-9096-4CEC-B899-1D646488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Each metric uses database records and returns guarded, two-decimal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0DC01-6610-46C2-A66A-FD00061D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10562-36CC-4EA4-9072-085BCB50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Net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3F949-FAEC-4EBA-87B5-EBFEEE13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Income − Expenses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3D684-7462-4296-A761-2C1324B8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Savings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643E1-ED95-45F5-8B23-DF27AD35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(Net savings ÷ Income) × 100; returns 0% when income is zero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C458F-D4A4-492D-84CB-7828B3B2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Budget utilization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FEB2D-0E8F-48DA-9549-9811EB87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(Actual category expense ÷ Budget) ×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8CF8F-44CE-42B3-8F49-6063DCF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Remaining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D3CA2-3630-4ED0-9DBF-A13C93D2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Budget − Actual expense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FA216-83E5-47E2-88BF-58093AA4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Budget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6C50E-BA22-46F2-960F-F5C04EA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Actual expense −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A10D1-3410-4FB7-B24E-B0FA609A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8A20"/>
                </a:solidFill>
                <a:latin typeface="Arial"/>
                <a:ea typeface="Arial"/>
                <a:cs typeface="Arial"/>
              </a:rPr>
              <a:t>Example: ₹5,000 budget and ₹5,750 actual expense means ₹750 overspending and 115% utilization.</a:t>
            </a:r>
          </a:p>
        </p:txBody>
      </p:sp>
    </p:spTree>
    <p:extLst>
      <p:ext uri="{BB962C8B-B14F-4D97-AF65-F5344CB8AC3E}">
        <p14:creationId xmlns:p14="http://schemas.microsoft.com/office/powerpoint/2010/main" val="6893281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27FC4-F9C2-4EF2-BF7D-4778BA7A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Verified sample-data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37D31-4B34-4B10-8A5A-AE5BED2D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Synthetic July–October 2026 records produced reproducible monthly totals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7A429-402D-4E7C-B226-FF7A7A5C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DC3AAD0-DD7E-4E97-A0C2-2BA446C3CF3C}"/>
              </a:ext>
            </a:extLst>
          </p:cNvPr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6191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cc9bfb07eb40d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EA25D-F180-4B99-9ACF-E0EAD17D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Recorded totals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41251-DD53-4634-904A-FB27B6D8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Income: ₹280,500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Expenses: ₹111,950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Savings: ₹168,550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Highest spending category: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Rent and Housing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08A59-8C5F-4DCC-B311-F7F4C287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911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Chart data comes from the idempotent demo seed, not hard-coded dashboard values.</a:t>
            </a:r>
          </a:p>
        </p:txBody>
      </p:sp>
    </p:spTree>
    <p:extLst>
      <p:ext uri="{BB962C8B-B14F-4D97-AF65-F5344CB8AC3E}">
        <p14:creationId xmlns:p14="http://schemas.microsoft.com/office/powerpoint/2010/main" val="2357879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BCCB7-3106-40F2-A9A2-E84A95A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Live visualizations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71212-0AE8-42D3-9F37-A47D9B64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Charts use selected stored records and show no-data states when no records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A0867-10FC-4BE2-A74E-D53FE438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6C23C-0DCB-4EEF-88D9-10F74E851B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1fdbd1027405d"/>
          <a:stretch xmlns:a="http://schemas.openxmlformats.org/drawingml/2006/main"/>
        </p:blipFill>
        <p:spPr>
          <a:xfrm xmlns:a="http://schemas.openxmlformats.org/drawingml/2006/main">
            <a:off x="1354396" y="1695450"/>
            <a:ext cx="3730108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C1E80-93A5-47E0-AB7D-A79E3EA7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Expense distribution by category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C653D-2A0D-4457-8ED2-FD77F27C7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d458541c8462d"/>
          <a:stretch xmlns:a="http://schemas.openxmlformats.org/drawingml/2006/main"/>
        </p:blipFill>
        <p:spPr>
          <a:xfrm xmlns:a="http://schemas.openxmlformats.org/drawingml/2006/main">
            <a:off x="6381750" y="1934351"/>
            <a:ext cx="5143500" cy="28559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1D31D-77D8-4748-B9E9-D73086B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Monthly income versus expenses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3A1CA-CEA3-419D-B348-43FE997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Each chart names its subject, identifies INR where applicable, and uses records retrieved from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3344386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26517-414B-478B-BAC0-A19D202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Live visualizations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9BE4D-25F5-4773-A5FC-274AFC9F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Budget exceptions become visible alongside longer-term savings 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BF4D6-E980-4A77-A1E3-6F6C745D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F1FAF-F451-4D15-924E-1368FB886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b08905bea4106"/>
          <a:stretch xmlns:a="http://schemas.openxmlformats.org/drawingml/2006/main"/>
        </p:blipFill>
        <p:spPr>
          <a:xfrm xmlns:a="http://schemas.openxmlformats.org/drawingml/2006/main">
            <a:off x="647700" y="1934351"/>
            <a:ext cx="5143500" cy="285594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E7D58-210F-453C-98D8-29504243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Monthly savings trend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7022E-4BC7-465A-AA54-396A2C4C8A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92d2675044ef1"/>
          <a:stretch xmlns:a="http://schemas.openxmlformats.org/drawingml/2006/main"/>
        </p:blipFill>
        <p:spPr>
          <a:xfrm xmlns:a="http://schemas.openxmlformats.org/drawingml/2006/main">
            <a:off x="6381750" y="1935644"/>
            <a:ext cx="5143500" cy="28533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97929-C984-4DCF-A037-96A64F5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Budget versus actual spending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59803-C04A-4904-8436-4FE5FAA0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October Grocery spending exceeds its ₹5,000 budget. Rent matches its ₹18,000 demo allocation.</a:t>
            </a:r>
          </a:p>
        </p:txBody>
      </p:sp>
    </p:spTree>
    <p:extLst>
      <p:ext uri="{BB962C8B-B14F-4D97-AF65-F5344CB8AC3E}">
        <p14:creationId xmlns:p14="http://schemas.microsoft.com/office/powerpoint/2010/main" val="14479547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9A091-CCAD-478E-B8C3-2FAAF15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Test evidence and reliability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40663-1D44-4957-AE6E-EFA85A47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Final local test run: 6 passed in 2.91 seconds on 2026-10-29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18131-8459-4732-9751-E5CEE44D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10FDC-325D-4D8D-956A-3DBFD495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Transaction CRUD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41D8A-6D73-4BF6-8353-A785F60B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Create, filter, update, delete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20780-0756-483E-A0B1-49FA90D4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47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5B113-6D24-4F7B-9208-1C0C7B0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Invalid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4EC50-ACC3-4956-9BE4-65E4798C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19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Bad dates, wrong categories, zero amounts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3F5DD-58A7-494F-953B-98A73A8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9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5232C-AC22-4368-BDEC-65899A4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Monthly budgets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7AAC6-C6DF-42A3-BCC5-40E0CC1A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90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Duplicate prevention and 150% overspend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753F9-1B34-46BC-87FD-E426C432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90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415DB-66E0-43BC-897A-10D7B561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0E570-94E3-4688-A870-E6EC4FC7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CSV formula injection escaping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2887A-7456-4004-86EF-45915AC8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62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C93DA-0869-45DB-B962-1E5C7BC9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Analytics and charts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FDE5E-F1F0-4917-BEC7-024668D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33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Zero-data values and four chart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3CB2D-AB60-4317-952D-FBE3439A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33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879D7-E4F9-44F6-8C5A-D130FCE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Controls: environment variables for secrets, SQLAlchemy parameterization, server-side validation, database constraints, CSRF tokens for browser forms, safe 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15847161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CD221-F9C1-4625-9590-1F5A0338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Demonstration and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4EF41-13F5-43FE-A493-176D0EF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The implementation supports a complete local workflow from record entry to verified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6234C-2680-4F2C-B123-E3740507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594BB-089C-4419-9203-07B18EAF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Initialize database and load repeatable demo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D7AEE-0AC7-4FF9-864A-EE3F5B4C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Add income and expense records, then confirm dashboard totals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8AEDF-1452-4075-9AF1-6F3F55A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Set a category budget and observe an overspend alert.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92AF5-A1CA-473B-9C80-D45818AF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Review analytics, inspect a chart, and export a filtered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AA372-3D18-49B1-A18B-AF3E0B26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Run pytest and explain the evidence and known limitations.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B3CDE-892C-4550-A5A6-122A92FD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8A20"/>
                </a:solidFill>
                <a:latin typeface="Arial"/>
                <a:ea typeface="Arial"/>
                <a:cs typeface="Arial"/>
              </a:rPr>
              <a:t>Known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173AD-0ACC-49E4-9F1D-3EDF1AB5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MySQL support is implemented but not verified in this workspace because no MySQL server or credentials were configured. SQLite validates the local demonstration path.</a:t>
            </a:r>
          </a:p>
        </p:txBody>
      </p:sp>
    </p:spTree>
    <p:extLst>
      <p:ext uri="{BB962C8B-B14F-4D97-AF65-F5344CB8AC3E}">
        <p14:creationId xmlns:p14="http://schemas.microsoft.com/office/powerpoint/2010/main" val="92358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2026-10-29T13:57:22.2310000Z</dcterms:created>
  <dcterms:modified xsi:type="dcterms:W3CDTF">2026-10-29T13:57:22.2310000Z</dcterms:modified>
</coreProperties>
</file>