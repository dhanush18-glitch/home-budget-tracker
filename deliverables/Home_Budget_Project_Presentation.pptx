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a66b979994f0a" /><Relationship Type="http://schemas.openxmlformats.org/officeDocument/2006/relationships/extended-properties" Target="/docProps/app.xml" Id="R53de782c17224443" /><Relationship Type="http://schemas.openxmlformats.org/officeDocument/2006/relationships/officeDocument" Target="/ppt/presentation.xml" Id="Ra5c9fde3dd7245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d209ac2774f3a"/>
  </p:sldMasterIdLst>
  <p:notesMasterIdLst>
    <p:notesMasterId xmlns:r="http://schemas.openxmlformats.org/officeDocument/2006/relationships" r:id="Rc5cd5ee05d1c48c1"/>
  </p:notesMasterIdLst>
  <p:sldIdLst>
    <p:sldId xmlns:r="http://schemas.openxmlformats.org/officeDocument/2006/relationships" id="256" r:id="R00b580500ed74476"/>
    <p:sldId xmlns:r="http://schemas.openxmlformats.org/officeDocument/2006/relationships" id="257" r:id="R866444e2aea549df"/>
    <p:sldId xmlns:r="http://schemas.openxmlformats.org/officeDocument/2006/relationships" id="258" r:id="R324dadc384884d85"/>
    <p:sldId xmlns:r="http://schemas.openxmlformats.org/officeDocument/2006/relationships" id="259" r:id="R9dffc06bd5474427"/>
    <p:sldId xmlns:r="http://schemas.openxmlformats.org/officeDocument/2006/relationships" id="260" r:id="R2e65f02d6b884943"/>
    <p:sldId xmlns:r="http://schemas.openxmlformats.org/officeDocument/2006/relationships" id="261" r:id="R1e7ac1c3f82143c4"/>
    <p:sldId xmlns:r="http://schemas.openxmlformats.org/officeDocument/2006/relationships" id="262" r:id="R3b319b253c144e5d"/>
    <p:sldId xmlns:r="http://schemas.openxmlformats.org/officeDocument/2006/relationships" id="263" r:id="Rf6f89d0fccdd413e"/>
    <p:sldId xmlns:r="http://schemas.openxmlformats.org/officeDocument/2006/relationships" id="264" r:id="R8a99b437ebfa45ed"/>
    <p:sldId xmlns:r="http://schemas.openxmlformats.org/officeDocument/2006/relationships" id="265" r:id="Rbf9911dde2f9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e4a750aad4714" /><Relationship Type="http://schemas.openxmlformats.org/officeDocument/2006/relationships/slideMaster" Target="/ppt/slideMasters/slideMaster1.xml" Id="R0e1d209ac2774f3a" /><Relationship Type="http://schemas.openxmlformats.org/officeDocument/2006/relationships/notesMaster" Target="/ppt/notesMasters/notesMaster1.xml" Id="Rc5cd5ee05d1c48c1" /><Relationship Type="http://schemas.openxmlformats.org/officeDocument/2006/relationships/presProps" Target="/ppt/presProps.xml" Id="R465e84af9ad04c31" /><Relationship Type="http://schemas.openxmlformats.org/officeDocument/2006/relationships/tableStyles" Target="/ppt/tableStyles.xml" Id="Rdbc37b247a3b42aa" /><Relationship Type="http://schemas.openxmlformats.org/officeDocument/2006/relationships/slide" Target="/ppt/slides/slide1.xml" Id="R00b580500ed74476" /><Relationship Type="http://schemas.openxmlformats.org/officeDocument/2006/relationships/slide" Target="/ppt/slides/slide2.xml" Id="R866444e2aea549df" /><Relationship Type="http://schemas.openxmlformats.org/officeDocument/2006/relationships/slide" Target="/ppt/slides/slide3.xml" Id="R324dadc384884d85" /><Relationship Type="http://schemas.openxmlformats.org/officeDocument/2006/relationships/slide" Target="/ppt/slides/slide4.xml" Id="R9dffc06bd5474427" /><Relationship Type="http://schemas.openxmlformats.org/officeDocument/2006/relationships/slide" Target="/ppt/slides/slide5.xml" Id="R2e65f02d6b884943" /><Relationship Type="http://schemas.openxmlformats.org/officeDocument/2006/relationships/slide" Target="/ppt/slides/slide6.xml" Id="R1e7ac1c3f82143c4" /><Relationship Type="http://schemas.openxmlformats.org/officeDocument/2006/relationships/slide" Target="/ppt/slides/slide7.xml" Id="R3b319b253c144e5d" /><Relationship Type="http://schemas.openxmlformats.org/officeDocument/2006/relationships/slide" Target="/ppt/slides/slide8.xml" Id="Rf6f89d0fccdd413e" /><Relationship Type="http://schemas.openxmlformats.org/officeDocument/2006/relationships/slide" Target="/ppt/slides/slide9.xml" Id="R8a99b437ebfa45ed" /><Relationship Type="http://schemas.openxmlformats.org/officeDocument/2006/relationships/slide" Target="/ppt/slides/slide10.xml" Id="Rbf9911dde2f9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6805e9e52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0b9d199684fdc" /><Relationship Type="http://schemas.openxmlformats.org/officeDocument/2006/relationships/notesMaster" Target="/ppt/notesMasters/notesMaster1.xml" Id="Re3d13e1bd349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49569640204a39" /><Relationship Type="http://schemas.openxmlformats.org/officeDocument/2006/relationships/notesMaster" Target="/ppt/notesMasters/notesMaster1.xml" Id="R91bb64650be448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00cd98c4a943df" /><Relationship Type="http://schemas.openxmlformats.org/officeDocument/2006/relationships/notesMaster" Target="/ppt/notesMasters/notesMaster1.xml" Id="R3d7042c1261043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96568b0ad45f6" /><Relationship Type="http://schemas.openxmlformats.org/officeDocument/2006/relationships/notesMaster" Target="/ppt/notesMasters/notesMaster1.xml" Id="Re4438dd60d25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5c5772662745bf" /><Relationship Type="http://schemas.openxmlformats.org/officeDocument/2006/relationships/notesMaster" Target="/ppt/notesMasters/notesMaster1.xml" Id="Re0a12fb6045348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8188b62815433d" /><Relationship Type="http://schemas.openxmlformats.org/officeDocument/2006/relationships/notesMaster" Target="/ppt/notesMasters/notesMaster1.xml" Id="R0a229a571c5e4f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51af171ef42a6" /><Relationship Type="http://schemas.openxmlformats.org/officeDocument/2006/relationships/notesMaster" Target="/ppt/notesMasters/notesMaster1.xml" Id="Re8d705c758dc46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c37bc5c2544d55" /><Relationship Type="http://schemas.openxmlformats.org/officeDocument/2006/relationships/notesMaster" Target="/ppt/notesMasters/notesMaster1.xml" Id="R9ce435e10e49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6fe50cd6484fe6" /><Relationship Type="http://schemas.openxmlformats.org/officeDocument/2006/relationships/notesMaster" Target="/ppt/notesMasters/notesMaster1.xml" Id="R79ca7ead49ca4a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2b5b9f6d74639" /><Relationship Type="http://schemas.openxmlformats.org/officeDocument/2006/relationships/notesMaster" Target="/ppt/notesMasters/notesMaster1.xml" Id="Rb9ce42a3b06b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afaa731a54d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930d4f00f43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20852e5ff4e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28d8b0b3249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c27fb8e2a45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fa612d0ec47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5AF6C6-1CE9-4242-9233-FB230A4D9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CF9AE1-AEB4-4D8E-A3A3-10FAC3BCCF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AAE7EC-C501-4278-985C-DFB8F31C8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814B5-1432-44DE-94C5-3C19A4F34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269704-66C1-4F9C-B82B-A44E3731D5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95D313-A78F-44CD-8F60-8420591AF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098D6E-3C7A-4722-9816-CCCE17A3E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294C05-E402-4982-A733-DF9924D634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9471B-4D32-41C9-884D-C5199FD60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B38BFE-2B76-4248-892F-D144D1694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79dd0fb8b4c18" /><Relationship Type="http://schemas.openxmlformats.org/officeDocument/2006/relationships/slideLayout" Target="/ppt/slideLayouts/slideLayout1.xml" Id="Rcbcc6e1d819f46f4" /><Relationship Type="http://schemas.openxmlformats.org/officeDocument/2006/relationships/slideLayout" Target="/ppt/slideLayouts/slideLayout2.xml" Id="R294639b069dd4c08" /><Relationship Type="http://schemas.openxmlformats.org/officeDocument/2006/relationships/slideLayout" Target="/ppt/slideLayouts/slideLayout3.xml" Id="Radc74c0374204619" /><Relationship Type="http://schemas.openxmlformats.org/officeDocument/2006/relationships/slideLayout" Target="/ppt/slideLayouts/slideLayout4.xml" Id="R94df9b2af49c452c" /><Relationship Type="http://schemas.openxmlformats.org/officeDocument/2006/relationships/slideLayout" Target="/ppt/slideLayouts/slideLayout5.xml" Id="Raec33e97118540a3" /><Relationship Type="http://schemas.openxmlformats.org/officeDocument/2006/relationships/slideLayout" Target="/ppt/slideLayouts/slideLayout6.xml" Id="R2ea1eacf5ed1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c6e1d819f46f4"/>
    <p:sldLayoutId xmlns:r="http://schemas.openxmlformats.org/officeDocument/2006/relationships" id="2147483650" r:id="R294639b069dd4c08"/>
    <p:sldLayoutId xmlns:r="http://schemas.openxmlformats.org/officeDocument/2006/relationships" id="2147483651" r:id="Radc74c0374204619"/>
    <p:sldLayoutId xmlns:r="http://schemas.openxmlformats.org/officeDocument/2006/relationships" id="2147483652" r:id="R94df9b2af49c452c"/>
    <p:sldLayoutId xmlns:r="http://schemas.openxmlformats.org/officeDocument/2006/relationships" id="2147483653" r:id="Raec33e97118540a3"/>
    <p:sldLayoutId xmlns:r="http://schemas.openxmlformats.org/officeDocument/2006/relationships" id="2147483654" r:id="R2ea1eacf5ed1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297cb2a3748a1" /><Relationship Type="http://schemas.openxmlformats.org/officeDocument/2006/relationships/notesSlide" Target="/ppt/notesSlides/notesSlide1.xml" Id="R24e7f2e252ad42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2f7b6438344f7" /><Relationship Type="http://schemas.openxmlformats.org/officeDocument/2006/relationships/notesSlide" Target="/ppt/notesSlides/notesSlide2.xml" Id="R12c112698e6547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52b860c44457c" /><Relationship Type="http://schemas.openxmlformats.org/officeDocument/2006/relationships/notesSlide" Target="/ppt/notesSlides/notesSlide3.xml" Id="R36a3281e5eff4a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ebd8f16fd4e79" /><Relationship Type="http://schemas.openxmlformats.org/officeDocument/2006/relationships/notesSlide" Target="/ppt/notesSlides/notesSlide4.xml" Id="Rcc795ccbf72149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ae897a5244d24" /><Relationship Type="http://schemas.openxmlformats.org/officeDocument/2006/relationships/notesSlide" Target="/ppt/notesSlides/notesSlide5.xml" Id="R5b66bc0f6a4a4d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d53d064a04fcb" /><Relationship Type="http://schemas.openxmlformats.org/officeDocument/2006/relationships/chart" Target="/ppt/slides/charts/chart1.xml" Id="R9192a4fceda640d1" /><Relationship Type="http://schemas.openxmlformats.org/officeDocument/2006/relationships/notesSlide" Target="/ppt/notesSlides/notesSlide6.xml" Id="R13cc4f7c218243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3b011ee914a43" /><Relationship Type="http://schemas.openxmlformats.org/officeDocument/2006/relationships/image" Target="/ppt/media/image.png" Id="R90b888504bb1417d" /><Relationship Type="http://schemas.openxmlformats.org/officeDocument/2006/relationships/image" Target="/ppt/media/image2.png" Id="Rb0d14b04002f4c95" /><Relationship Type="http://schemas.openxmlformats.org/officeDocument/2006/relationships/notesSlide" Target="/ppt/notesSlides/notesSlide7.xml" Id="R32b5532514fc41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c8ed1f76e4f29" /><Relationship Type="http://schemas.openxmlformats.org/officeDocument/2006/relationships/image" Target="/ppt/media/image3.png" Id="R159c6bf019fa4670" /><Relationship Type="http://schemas.openxmlformats.org/officeDocument/2006/relationships/image" Target="/ppt/media/image4.png" Id="R91c2bc8fa97f4bdf" /><Relationship Type="http://schemas.openxmlformats.org/officeDocument/2006/relationships/notesSlide" Target="/ppt/notesSlides/notesSlide8.xml" Id="R8d269a16881546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1a90437a74416" /><Relationship Type="http://schemas.openxmlformats.org/officeDocument/2006/relationships/notesSlide" Target="/ppt/notesSlides/notesSlide9.xml" Id="R81561e098f98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3265d6c094ee3" /><Relationship Type="http://schemas.openxmlformats.org/officeDocument/2006/relationships/notesSlide" Target="/ppt/notesSlides/notesSlide10.xml" Id="R581af8c91a4e4d8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income and expenses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Income</c:v>
          </c:tx>
          <c:spPr>
            <a:solidFill xmlns:a="http://schemas.openxmlformats.org/drawingml/2006/main">
              <a:srgbClr val="1E6F5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65000</c:v>
                </c:pt>
                <c:pt idx="1">
                  <c:v>73500</c:v>
                </c:pt>
                <c:pt idx="2">
                  <c:v>65000</c:v>
                </c:pt>
                <c:pt idx="3">
                  <c:v>77000</c:v>
                </c:pt>
              </c:numCache>
            </c:numRef>
          </c:val>
        </c:ser>
        <c:ser>
          <c:idx val="1"/>
          <c:order val="1"/>
          <c:tx>
            <c:v>Expenses</c:v>
          </c:tx>
          <c:spPr>
            <a:solidFill xmlns:a="http://schemas.openxmlformats.org/drawingml/2006/main">
              <a:srgbClr val="C78A2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24700</c:v>
                </c:pt>
                <c:pt idx="1">
                  <c:v>27600</c:v>
                </c:pt>
                <c:pt idx="2">
                  <c:v>28400</c:v>
                </c:pt>
                <c:pt idx="3">
                  <c:v>31250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INR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90DD8-BD56-4FF8-BF80-B31A6DAC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Budget Expense 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2A147-1EEB-4E3C-9524-8ABD375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Analysis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5344D-8CFD-4792-83BC-A0399E0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Flask, MySQL, Pandas, NumPy and Matplotlib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5129E-F4AD-4DF2-889A-96D9EAE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Project 8  |  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90400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0E09E-D171-4855-AAEE-97E8D774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Problem, objective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00DCF-9C5F-4CD0-A829-B7CE303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Household records need a reliable monthly view of spending, savings, and budget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92DAC-4B3B-4648-B8B1-962378EA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4AB1-2BC4-42F6-A057-0D7545A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C9DE4-0926-4B9E-9781-2F8EC620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Individual purchases do not reveal category totals or monthly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5A3EB-2A00-4A6C-9180-C3B9046B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Budget overruns are easy to miss without calculated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8E90F-3E21-4F6F-BCA7-92FA31C3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D490D-16B5-4EE3-A16D-A773D6C0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Record valid income and expense transactions.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AC26-B102-416D-9D33-4528350F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Calculate savings, category share, and budget status from stored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156FB-FF5E-489F-8F10-E82A0565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Provide accessible local reports and visual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A30D8-0F83-4F2F-BEEF-C409B76C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Boundary: one trusted local user enters records manually. No bank feeds, payment processing, credential storage, or financial advice.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13964-4EB0-4007-974A-4F85D15E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2</a:t>
            </a:r>
          </a:p>
        </p:txBody>
      </p:sp>
    </p:spTree>
    <p:extLst>
      <p:ext uri="{BB962C8B-B14F-4D97-AF65-F5344CB8AC3E}">
        <p14:creationId xmlns:p14="http://schemas.microsoft.com/office/powerpoint/2010/main" val="354600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E1D31-AFE8-43E1-8201-F5B3133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EE343-7474-4CD6-9540-F3ACC15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A modular Flask design keeps business calculations outside route handlers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EFE23-5DD7-432E-874A-98EFCCA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FB23-51BD-4F44-866D-022ECEA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13AC8-B6FA-45F6-AE5E-D3F992FB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Responsive Flask and Jinja pages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JSON endpoints for automation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CSRF-protected browser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F3B4-0D4D-4316-9356-127E79DA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19F89-75AA-411A-8B32-FB9FCF8C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Validation and decimal rules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Analytics with Pandas and NumPy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Charts and CSV report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57601-9D2F-483B-B755-1417F44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E57FD-B679-45BF-A429-609789CD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SQLAlchemy models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target through DATABASE_URL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SQLite demo and test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44D74-F245-4B69-ABD1-7074974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Flow: browser or API → Flask blueprint → validation/service → SQLAlchemy models → database → derived analytics and charts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1FBD4-CF89-4962-8F50-7E667EF2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3</a:t>
            </a:r>
          </a:p>
        </p:txBody>
      </p:sp>
    </p:spTree>
    <p:extLst>
      <p:ext uri="{BB962C8B-B14F-4D97-AF65-F5344CB8AC3E}">
        <p14:creationId xmlns:p14="http://schemas.microsoft.com/office/powerpoint/2010/main" val="3315507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04AE-2E0F-4F71-801A-B55BFA4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D5D82-C8B1-442C-B2BC-697F0E4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Three normalized tables preserve categories, records, and month-specific allocations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B429-A708-43DC-828F-5BCA46F2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6983F-D4BB-4DC7-B3C0-1E1A762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00589-C815-4ED8-86E4-C7A34F19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name, kind, created_at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name + kind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One category classifies transactions and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BDA09-70EC-415C-B5DA-4BA715E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5E5BC-7F40-4DA6-A3B3-7547FCE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85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date, type, category_id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description, payment method, timestamps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Date/type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F96BA-6E85-4566-96FC-6413762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monthly_budgets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85450-CECD-4512-847B-F0B3C96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category_id, month, year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category + month +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8FD6B-EBCE-4A62-B103-BDE8281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Foreign keys use restricted deletion so historic reports keep valid category references.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B2982-1210-438C-9BBC-9D109A8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4</a:t>
            </a:r>
          </a:p>
        </p:txBody>
      </p:sp>
    </p:spTree>
    <p:extLst>
      <p:ext uri="{BB962C8B-B14F-4D97-AF65-F5344CB8AC3E}">
        <p14:creationId xmlns:p14="http://schemas.microsoft.com/office/powerpoint/2010/main" val="1006665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E19C-83C2-46BB-8491-C3F99258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Financial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8B472-AE3E-465F-86E5-E588DA52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metric uses database records and returns guarded, two-decimal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CE7CC-0C23-4C39-8260-3E80F60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051A6-C1E6-4FF1-A7C9-5950CAE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Net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B1D63-00DE-4AE7-96A6-6497555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 − Expenses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DFB7B-9B76-4C13-9ED1-785B98C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Savings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EC182-43CD-4F3F-9139-444AC6FC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(Net savings ÷ Income) × 100; returns 0% when income is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55791-3D96-4659-935E-41B20ABE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B7704-C206-4A8A-98C0-63310A6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(Actual category expense ÷ Budget) ×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9E885-86F3-4694-A50A-1BCEF8D5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Remaining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8C5F-F98C-4690-8CB6-EFF974CC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Budget − Actual expense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C038A-2FB5-4B6A-9F9D-58F8A146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E3B93-D032-4B45-976E-6B31AF4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Actual expense −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940DF-010C-4A2A-9192-D95D028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Example: ₹5,000 budget and ₹5,750 actual expense means ₹750 overspending and 115% utilization.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900D7-F10C-4640-A0D4-A226FE7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5</a:t>
            </a:r>
          </a:p>
        </p:txBody>
      </p:sp>
    </p:spTree>
    <p:extLst>
      <p:ext uri="{BB962C8B-B14F-4D97-AF65-F5344CB8AC3E}">
        <p14:creationId xmlns:p14="http://schemas.microsoft.com/office/powerpoint/2010/main" val="15695564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9A342-D218-4713-BB38-4D686512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Verified sample-data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D12FF-83A9-4A42-80F0-AAB47B4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Synthetic July–October 2026 records produced reproducible monthly totals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8DE8A-3019-432E-B3F7-EE26B8C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B135227-2684-4B37-8E2A-8EA1C7F1C813}"/>
              </a:ext>
            </a:extLst>
          </p:cNvPr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92a4fceda640d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D0843-E81E-49A9-A304-F342A3F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Recorded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B4B9B-4536-458B-BAB6-ED4D464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Income: ₹280,500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Expenses: ₹111,950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Savings: ₹168,550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Highest spending category: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Rent and Housing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56330-02ED-4029-9651-A520CCEF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 data comes from the idempotent demo seed, not hard-coded dashboard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DD87C-EFCC-4B0A-A348-058B4E0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6</a:t>
            </a:r>
          </a:p>
        </p:txBody>
      </p:sp>
    </p:spTree>
    <p:extLst>
      <p:ext uri="{BB962C8B-B14F-4D97-AF65-F5344CB8AC3E}">
        <p14:creationId xmlns:p14="http://schemas.microsoft.com/office/powerpoint/2010/main" val="1587615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B9698-943A-4178-A5C6-820F79C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4E87E-99DC-4E9B-9E23-0D392265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Charts use selected stored records and show no-data states when no records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B289F-1B15-44DE-A311-96C413E1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2C743-CE09-41BC-8324-A3D9D1D34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888504bb1417d"/>
          <a:stretch xmlns:a="http://schemas.openxmlformats.org/drawingml/2006/main"/>
        </p:blipFill>
        <p:spPr>
          <a:xfrm xmlns:a="http://schemas.openxmlformats.org/drawingml/2006/main">
            <a:off x="1354396" y="1695450"/>
            <a:ext cx="3730108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0BDD-CE65-482B-AA93-607FD04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Expense distribution by category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896A1-D85B-4C35-85E4-B4BE99043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14b04002f4c95"/>
          <a:stretch xmlns:a="http://schemas.openxmlformats.org/drawingml/2006/main"/>
        </p:blipFill>
        <p:spPr>
          <a:xfrm xmlns:a="http://schemas.openxmlformats.org/drawingml/2006/main">
            <a:off x="638175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05605-48BA-4D5B-BA9C-3761AAC9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income versus expenses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9CFF2-BBF3-4C40-ABA8-A0563F3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chart names its subject, identifies INR where applicable, and uses records retrieved from the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84A25-F9CC-436E-940B-595C6F5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7</a:t>
            </a:r>
          </a:p>
        </p:txBody>
      </p:sp>
    </p:spTree>
    <p:extLst>
      <p:ext uri="{BB962C8B-B14F-4D97-AF65-F5344CB8AC3E}">
        <p14:creationId xmlns:p14="http://schemas.microsoft.com/office/powerpoint/2010/main" val="662238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E35E0-5809-4CAF-B847-83B1A77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2EFC-DDE1-4090-BBA1-375C10C3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exceptions become visible alongside longer-term savings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FE910-C633-4BBF-BE42-C1955AD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F330E-7677-4970-B8E4-7F633B3A6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c6bf019fa4670"/>
          <a:stretch xmlns:a="http://schemas.openxmlformats.org/drawingml/2006/main"/>
        </p:blipFill>
        <p:spPr>
          <a:xfrm xmlns:a="http://schemas.openxmlformats.org/drawingml/2006/main">
            <a:off x="64770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A2F84-66DE-476F-8F1F-D271899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savings trend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B8298-131C-45CE-8F7A-9128E9971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2bc8fa97f4bdf"/>
          <a:stretch xmlns:a="http://schemas.openxmlformats.org/drawingml/2006/main"/>
        </p:blipFill>
        <p:spPr>
          <a:xfrm xmlns:a="http://schemas.openxmlformats.org/drawingml/2006/main">
            <a:off x="638175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7BBFD-FE21-4BAF-92DD-5BE384D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versus actual spending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484EA-3BD0-4601-A4D8-ED80366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October Grocery spending exceeds its ₹5,000 budget. Rent matches its ₹18,000 demo allocation.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8565F-30F0-4712-BB1A-01F3C3F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8</a:t>
            </a:r>
          </a:p>
        </p:txBody>
      </p:sp>
    </p:spTree>
    <p:extLst>
      <p:ext uri="{BB962C8B-B14F-4D97-AF65-F5344CB8AC3E}">
        <p14:creationId xmlns:p14="http://schemas.microsoft.com/office/powerpoint/2010/main" val="4875102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A0F6D-9C86-4985-AAC9-2475CA2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Test evidence and reliability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CD80B-24D6-4557-A3D3-1626C038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Actual local test run: 6 passed in 9.16 seconds on 2026-10-29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C6B23-9119-4FB1-8444-BF47B4F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2FFDD-A72B-4623-8520-153C8B8B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 CRUD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51FD-2613-4D9D-B912-9FFF3184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Create, filter, update, 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C3980-6B80-41B2-A222-4304AA9B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04C45-FC89-4C0E-96CC-4ABC272D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Invalid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6A003-03F0-4067-86C3-2CD7B89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Bad dates, wrong categories, zero amounts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6935F-33F7-422D-B61D-DC9F513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E680C-EEA1-46DE-8BE6-31EF8C4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 budgets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5C231-0ABA-40C6-BC32-5A8B5AA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90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Duplicate prevention and 150% overspend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E9908-BFB4-4092-8F55-D7B5600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EFD56-7CE2-4C6E-AD6C-E089A9A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14EBA-7DA1-4551-8D21-C147EF5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CSV formula injection escaping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CE754-399A-4266-8263-3CC03C48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BC1D0-D470-4F95-8451-4F3BA93B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Analytics and charts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0FC64-22A4-4E00-870D-355EE11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33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Zero-data values and four chart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AAEA6-855E-4776-985F-9BBF0EFB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6B456-92F8-428F-929E-861F1B5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Controls: environment variables for secrets, SQLAlchemy parameterization, server-side validation, database constraints, CSRF tokens for browser forms, safe error messages.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CDE4A-F3EA-4FB6-8E03-9DF8240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9</a:t>
            </a:r>
          </a:p>
        </p:txBody>
      </p:sp>
    </p:spTree>
    <p:extLst>
      <p:ext uri="{BB962C8B-B14F-4D97-AF65-F5344CB8AC3E}">
        <p14:creationId xmlns:p14="http://schemas.microsoft.com/office/powerpoint/2010/main" val="17379020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C2F77-F2EB-4A5B-A1F5-889B1851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Demonstration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4ECB-0334-4EB0-9A88-8362B16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The implementation supports a complete local workflow from record entry to verified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DD938-382E-40C8-AC62-21CD881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2C80B-905F-4876-A164-4517887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Initialize database and load repeatable demo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34962-B1F9-48C6-AE3A-130D3E0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Add income and expense records, then confirm dashboard totals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35EEB-CF06-40E2-9D58-EC491C4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Set a category budget and observe an overspend alert.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BCF9C-5AD1-4E8A-80AD-08B6F1CF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Review analytics, inspect a chart, and export a filtered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3A476-A79E-45F3-BD6B-6F4CF9D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Run pytest and explain the evidence and known limitations.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3008F-83D1-40AD-A70E-1CE44E9C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Known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A3283-519E-47F1-BF47-D199420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support is implemented but not verified in this workspace because no MySQL server or credentials were configured. SQLite validates the local demonstration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2B5A4-FAAB-40EC-8ADA-16226BD1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Expense Tracker   |   10</a:t>
            </a:r>
          </a:p>
        </p:txBody>
      </p:sp>
    </p:spTree>
    <p:extLst>
      <p:ext uri="{BB962C8B-B14F-4D97-AF65-F5344CB8AC3E}">
        <p14:creationId xmlns:p14="http://schemas.microsoft.com/office/powerpoint/2010/main" val="1736219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2026-10-29T13:53:52.4630000Z</dcterms:created>
  <dcterms:modified xsi:type="dcterms:W3CDTF">2026-10-29T13:53:52.4630000Z</dcterms:modified>
</coreProperties>
</file>