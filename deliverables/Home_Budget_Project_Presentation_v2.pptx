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94796f14174c39" /><Relationship Type="http://schemas.openxmlformats.org/officeDocument/2006/relationships/extended-properties" Target="/docProps/app.xml" Id="Rc9053080c7484895" /><Relationship Type="http://schemas.openxmlformats.org/officeDocument/2006/relationships/officeDocument" Target="/ppt/presentation.xml" Id="Rd66f03843cc94c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9a66187cf94a15"/>
  </p:sldMasterIdLst>
  <p:notesMasterIdLst>
    <p:notesMasterId xmlns:r="http://schemas.openxmlformats.org/officeDocument/2006/relationships" r:id="Rba2b76f3bc144739"/>
  </p:notesMasterIdLst>
  <p:sldIdLst>
    <p:sldId xmlns:r="http://schemas.openxmlformats.org/officeDocument/2006/relationships" id="256" r:id="R4b6149a05c2d4ed3"/>
    <p:sldId xmlns:r="http://schemas.openxmlformats.org/officeDocument/2006/relationships" id="257" r:id="Ra0139997c8034fdc"/>
    <p:sldId xmlns:r="http://schemas.openxmlformats.org/officeDocument/2006/relationships" id="258" r:id="Rb0a557ec81d24a8c"/>
    <p:sldId xmlns:r="http://schemas.openxmlformats.org/officeDocument/2006/relationships" id="259" r:id="R07a917004ea549d8"/>
    <p:sldId xmlns:r="http://schemas.openxmlformats.org/officeDocument/2006/relationships" id="260" r:id="R42ffb68052bc4cfd"/>
    <p:sldId xmlns:r="http://schemas.openxmlformats.org/officeDocument/2006/relationships" id="261" r:id="R4069e7b4fda84e26"/>
    <p:sldId xmlns:r="http://schemas.openxmlformats.org/officeDocument/2006/relationships" id="262" r:id="R90a0e9be3ae942d1"/>
    <p:sldId xmlns:r="http://schemas.openxmlformats.org/officeDocument/2006/relationships" id="263" r:id="R757e7874daf8479e"/>
    <p:sldId xmlns:r="http://schemas.openxmlformats.org/officeDocument/2006/relationships" id="264" r:id="Ra6f06df328b348e0"/>
    <p:sldId xmlns:r="http://schemas.openxmlformats.org/officeDocument/2006/relationships" id="265" r:id="R220cf812b78c47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29cd4543064755" /><Relationship Type="http://schemas.openxmlformats.org/officeDocument/2006/relationships/slideMaster" Target="/ppt/slideMasters/slideMaster1.xml" Id="R979a66187cf94a15" /><Relationship Type="http://schemas.openxmlformats.org/officeDocument/2006/relationships/notesMaster" Target="/ppt/notesMasters/notesMaster1.xml" Id="Rba2b76f3bc144739" /><Relationship Type="http://schemas.openxmlformats.org/officeDocument/2006/relationships/presProps" Target="/ppt/presProps.xml" Id="Rfa7e0cbed2784cd1" /><Relationship Type="http://schemas.openxmlformats.org/officeDocument/2006/relationships/tableStyles" Target="/ppt/tableStyles.xml" Id="R97488de237f04965" /><Relationship Type="http://schemas.openxmlformats.org/officeDocument/2006/relationships/slide" Target="/ppt/slides/slide1.xml" Id="R4b6149a05c2d4ed3" /><Relationship Type="http://schemas.openxmlformats.org/officeDocument/2006/relationships/slide" Target="/ppt/slides/slide2.xml" Id="Ra0139997c8034fdc" /><Relationship Type="http://schemas.openxmlformats.org/officeDocument/2006/relationships/slide" Target="/ppt/slides/slide3.xml" Id="Rb0a557ec81d24a8c" /><Relationship Type="http://schemas.openxmlformats.org/officeDocument/2006/relationships/slide" Target="/ppt/slides/slide4.xml" Id="R07a917004ea549d8" /><Relationship Type="http://schemas.openxmlformats.org/officeDocument/2006/relationships/slide" Target="/ppt/slides/slide5.xml" Id="R42ffb68052bc4cfd" /><Relationship Type="http://schemas.openxmlformats.org/officeDocument/2006/relationships/slide" Target="/ppt/slides/slide6.xml" Id="R4069e7b4fda84e26" /><Relationship Type="http://schemas.openxmlformats.org/officeDocument/2006/relationships/slide" Target="/ppt/slides/slide7.xml" Id="R90a0e9be3ae942d1" /><Relationship Type="http://schemas.openxmlformats.org/officeDocument/2006/relationships/slide" Target="/ppt/slides/slide8.xml" Id="R757e7874daf8479e" /><Relationship Type="http://schemas.openxmlformats.org/officeDocument/2006/relationships/slide" Target="/ppt/slides/slide9.xml" Id="Ra6f06df328b348e0" /><Relationship Type="http://schemas.openxmlformats.org/officeDocument/2006/relationships/slide" Target="/ppt/slides/slide10.xml" Id="R220cf812b78c47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559a55fc5042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1ebb0825d2416a" /><Relationship Type="http://schemas.openxmlformats.org/officeDocument/2006/relationships/notesMaster" Target="/ppt/notesMasters/notesMaster1.xml" Id="Rc6077ccf924a4a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04d52f3c1c4164" /><Relationship Type="http://schemas.openxmlformats.org/officeDocument/2006/relationships/notesMaster" Target="/ppt/notesMasters/notesMaster1.xml" Id="R6f4d7a65685f48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bd4e7a565f48d8" /><Relationship Type="http://schemas.openxmlformats.org/officeDocument/2006/relationships/notesMaster" Target="/ppt/notesMasters/notesMaster1.xml" Id="R874240b0f51b42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944cdfbd1a41bd" /><Relationship Type="http://schemas.openxmlformats.org/officeDocument/2006/relationships/notesMaster" Target="/ppt/notesMasters/notesMaster1.xml" Id="Re7546327f01145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acfea2262c4941" /><Relationship Type="http://schemas.openxmlformats.org/officeDocument/2006/relationships/notesMaster" Target="/ppt/notesMasters/notesMaster1.xml" Id="R533e8b76bba24d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b4696a92c94bb4" /><Relationship Type="http://schemas.openxmlformats.org/officeDocument/2006/relationships/notesMaster" Target="/ppt/notesMasters/notesMaster1.xml" Id="R3c6d16e541424a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7afd7b104a4e41" /><Relationship Type="http://schemas.openxmlformats.org/officeDocument/2006/relationships/notesMaster" Target="/ppt/notesMasters/notesMaster1.xml" Id="R686528a109a445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f8ca338e034cd8" /><Relationship Type="http://schemas.openxmlformats.org/officeDocument/2006/relationships/notesMaster" Target="/ppt/notesMasters/notesMaster1.xml" Id="R55b1b90180f549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25021e2a3a4bb1" /><Relationship Type="http://schemas.openxmlformats.org/officeDocument/2006/relationships/notesMaster" Target="/ppt/notesMasters/notesMaster1.xml" Id="R2f48d0663c4d4f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0bdc9dd7234396" /><Relationship Type="http://schemas.openxmlformats.org/officeDocument/2006/relationships/notesMaster" Target="/ppt/notesMasters/notesMaster1.xml" Id="R4c516386c38140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80218349c440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1f5967024842c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18b4dcd19d46a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07d76f6dd4494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39e86377d5482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4e65bf71dc49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21E279-2AF3-401E-A2D7-19B938C0E0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86B8C93-BE25-4B15-AF5F-B7F67FB7980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65DD4BF-EE46-4C0D-8909-5C02BED2B6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D79528-E7C7-4E36-8FE0-7D4C4DE73B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20CAD6F-E7A7-49FB-BFCD-F0FBFD08E8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40BD12D-EEC0-481F-84E2-8BCFA03BC0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6C206B0-CE74-478E-A5F3-3FF651414D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99E4EFE-AE20-4C3D-A8AB-628952C2A1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9EB042-7304-4736-94AD-AF8B6CC2B2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C0F1DF-83A2-48E8-AC31-9E6A6B43AB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2d7960d2434a6d" /><Relationship Type="http://schemas.openxmlformats.org/officeDocument/2006/relationships/slideLayout" Target="/ppt/slideLayouts/slideLayout1.xml" Id="Rc8a7c322751045db" /><Relationship Type="http://schemas.openxmlformats.org/officeDocument/2006/relationships/slideLayout" Target="/ppt/slideLayouts/slideLayout2.xml" Id="R9fb93c21bf924824" /><Relationship Type="http://schemas.openxmlformats.org/officeDocument/2006/relationships/slideLayout" Target="/ppt/slideLayouts/slideLayout3.xml" Id="Refbb3f433a864f2f" /><Relationship Type="http://schemas.openxmlformats.org/officeDocument/2006/relationships/slideLayout" Target="/ppt/slideLayouts/slideLayout4.xml" Id="Rdd83ef350af8416a" /><Relationship Type="http://schemas.openxmlformats.org/officeDocument/2006/relationships/slideLayout" Target="/ppt/slideLayouts/slideLayout5.xml" Id="R6d4bb19bbea342ac" /><Relationship Type="http://schemas.openxmlformats.org/officeDocument/2006/relationships/slideLayout" Target="/ppt/slideLayouts/slideLayout6.xml" Id="R1fb140e1387f4b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a7c322751045db"/>
    <p:sldLayoutId xmlns:r="http://schemas.openxmlformats.org/officeDocument/2006/relationships" id="2147483650" r:id="R9fb93c21bf924824"/>
    <p:sldLayoutId xmlns:r="http://schemas.openxmlformats.org/officeDocument/2006/relationships" id="2147483651" r:id="Refbb3f433a864f2f"/>
    <p:sldLayoutId xmlns:r="http://schemas.openxmlformats.org/officeDocument/2006/relationships" id="2147483652" r:id="Rdd83ef350af8416a"/>
    <p:sldLayoutId xmlns:r="http://schemas.openxmlformats.org/officeDocument/2006/relationships" id="2147483653" r:id="R6d4bb19bbea342ac"/>
    <p:sldLayoutId xmlns:r="http://schemas.openxmlformats.org/officeDocument/2006/relationships" id="2147483654" r:id="R1fb140e1387f4b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84a975a5134afa" /><Relationship Type="http://schemas.openxmlformats.org/officeDocument/2006/relationships/notesSlide" Target="/ppt/notesSlides/notesSlide1.xml" Id="R904eeb76285e47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9ab97e179347be" /><Relationship Type="http://schemas.openxmlformats.org/officeDocument/2006/relationships/notesSlide" Target="/ppt/notesSlides/notesSlide2.xml" Id="R9e9cdd7356c54d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fcade1c5054b26" /><Relationship Type="http://schemas.openxmlformats.org/officeDocument/2006/relationships/notesSlide" Target="/ppt/notesSlides/notesSlide3.xml" Id="Re7064d5d59c842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1f7fec839a467f" /><Relationship Type="http://schemas.openxmlformats.org/officeDocument/2006/relationships/notesSlide" Target="/ppt/notesSlides/notesSlide4.xml" Id="Rf371b928d3b647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44b6e3a04f441c" /><Relationship Type="http://schemas.openxmlformats.org/officeDocument/2006/relationships/notesSlide" Target="/ppt/notesSlides/notesSlide5.xml" Id="R4d0ad252d7c94c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f4a98286064d2d" /><Relationship Type="http://schemas.openxmlformats.org/officeDocument/2006/relationships/chart" Target="/ppt/slides/charts/chart1.xml" Id="Rbc0d69977f7d4430" /><Relationship Type="http://schemas.openxmlformats.org/officeDocument/2006/relationships/notesSlide" Target="/ppt/notesSlides/notesSlide6.xml" Id="Rba64fd9f11184f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c698e1d1564e9b" /><Relationship Type="http://schemas.openxmlformats.org/officeDocument/2006/relationships/image" Target="/ppt/media/image.png" Id="Rfe14b7a5b1bf4213" /><Relationship Type="http://schemas.openxmlformats.org/officeDocument/2006/relationships/image" Target="/ppt/media/image2.png" Id="R4fe905063aca4019" /><Relationship Type="http://schemas.openxmlformats.org/officeDocument/2006/relationships/notesSlide" Target="/ppt/notesSlides/notesSlide7.xml" Id="R2e1a9163767a45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257144c9b64e4f" /><Relationship Type="http://schemas.openxmlformats.org/officeDocument/2006/relationships/image" Target="/ppt/media/image3.png" Id="R8ad60fc56e244ec1" /><Relationship Type="http://schemas.openxmlformats.org/officeDocument/2006/relationships/image" Target="/ppt/media/image4.png" Id="R8965a65d8c514ac2" /><Relationship Type="http://schemas.openxmlformats.org/officeDocument/2006/relationships/notesSlide" Target="/ppt/notesSlides/notesSlide8.xml" Id="Ra00e50dd0ed74c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1b3369337741cd" /><Relationship Type="http://schemas.openxmlformats.org/officeDocument/2006/relationships/notesSlide" Target="/ppt/notesSlides/notesSlide9.xml" Id="R1450da48b68141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1508ab60d94d00" /><Relationship Type="http://schemas.openxmlformats.org/officeDocument/2006/relationships/notesSlide" Target="/ppt/notesSlides/notesSlide10.xml" Id="Re3e8753dd61d4d2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Monthly income and expenses</a:t>
            </a:r>
          </a:p>
        </c:rich>
      </c:tx>
      <c:overlay val="0"/>
    </c:title>
    <c:plotArea>
      <c:barChart>
        <c:barDir val="col"/>
        <c:varyColors val="0"/>
        <c:ser>
          <c:idx val="0"/>
          <c:order val="0"/>
          <c:tx>
            <c:v>Income</c:v>
          </c:tx>
          <c:spPr>
            <a:solidFill xmlns:a="http://schemas.openxmlformats.org/drawingml/2006/main">
              <a:srgbClr val="1E6F5C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65000</c:v>
                </c:pt>
                <c:pt idx="1">
                  <c:v>73500</c:v>
                </c:pt>
                <c:pt idx="2">
                  <c:v>65000</c:v>
                </c:pt>
                <c:pt idx="3">
                  <c:v>77000</c:v>
                </c:pt>
              </c:numCache>
            </c:numRef>
          </c:val>
        </c:ser>
        <c:ser>
          <c:idx val="1"/>
          <c:order val="1"/>
          <c:tx>
            <c:v>Expenses</c:v>
          </c:tx>
          <c:spPr>
            <a:solidFill xmlns:a="http://schemas.openxmlformats.org/drawingml/2006/main">
              <a:srgbClr val="C78A20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24700</c:v>
                </c:pt>
                <c:pt idx="1">
                  <c:v>27600</c:v>
                </c:pt>
                <c:pt idx="2">
                  <c:v>28400</c:v>
                </c:pt>
                <c:pt idx="3">
                  <c:v>31250</c:v>
                </c:pt>
              </c:numCache>
            </c:numRef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INR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7CD67-D56B-4B5A-B152-21FAD5C3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781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Home Budget Expense Tracker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F3AF2-0F5D-46ED-A5C1-DE544A59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Analysis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CDA40-F7A3-439F-A59B-86DF062C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76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FE5DE"/>
                </a:solidFill>
                <a:latin typeface="Arial"/>
                <a:ea typeface="Arial"/>
                <a:cs typeface="Arial"/>
              </a:rPr>
              <a:t>Flask, MySQL, Pandas, NumPy and Matplotlib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F5030-DE51-41ED-B433-89AC4430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863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CFE5D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FE5DE"/>
                </a:solidFill>
                <a:latin typeface="Arial"/>
                <a:ea typeface="Arial"/>
                <a:cs typeface="Arial"/>
              </a:rPr>
              <a:t>Project 8  |  Academic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3506420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32336F-B08D-4693-B1B9-7FA4C048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Problem, objective and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9D9C3-F171-4BB1-85D4-92743AF1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Household records need a reliable monthly view of spending, savings, and budget exceptions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B0265-4818-4F95-8914-341FB18A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9C455-05A3-4054-9BC3-51DB4840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288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E95CD-627A-469F-8FB4-23A9E300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Individual purchases do not reveal category totals or monthly savings.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2557B-B8DF-400D-ABFE-CC254C6C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Budget overruns are easy to miss without calculated comparisons.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0F9E8-D447-4445-8CA5-13D4FA24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Project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717E40-4F78-43F3-82AD-6BE9CF42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Record valid income and expense transactions.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90E22-C715-4CFF-B6D9-42588E4B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Calculate savings, category share, and budget status from stored 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6CFC51-6E0F-4DE8-A06D-994FE1BF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Provide accessible local reports and visual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112CC-FAA0-49E2-A5C2-D5F1A5C3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Boundary: one trusted local user enters records manually. No bank feeds, payment processing, credential storage, or financial advice.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1E96E5-8F7A-421D-BB77-9390F19D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Home Budget  |  2</a:t>
            </a:r>
          </a:p>
        </p:txBody>
      </p:sp>
    </p:spTree>
    <p:extLst>
      <p:ext uri="{BB962C8B-B14F-4D97-AF65-F5344CB8AC3E}">
        <p14:creationId xmlns:p14="http://schemas.microsoft.com/office/powerpoint/2010/main" val="4561812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3307B-1BDB-4392-80C0-D32F5AAA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Application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1D7FD-E95A-4CA6-93E7-5E5CB580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A modular Flask design keeps business calculations outside route handlers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3197A-E2B8-46E4-930F-511F6669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06B16-7B78-49F5-A6C2-BCB9C6F4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B016B-3A75-4D32-BDD6-1DB08249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Responsive Flask and Jinja pages</a:t>
            </a:r>
          </a:p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JSON endpoints for automation</a:t>
            </a:r>
          </a:p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CSRF-protected browser forms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D71D7-68EB-40F6-AEB7-4D98DFE5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Services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D38F0-FD0D-4548-93D6-B0D60EF8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908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Validation and decimal rules</a:t>
            </a:r>
          </a:p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Analytics with Pandas and NumPy</a:t>
            </a:r>
          </a:p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Charts and CSV report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49087-73BE-41C7-B0BA-359ABCF1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002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Persistence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2FC9CA-210F-490F-9A2A-1AFD5E1F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908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SQLAlchemy models</a:t>
            </a:r>
          </a:p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MySQL target through DATABASE_URL</a:t>
            </a:r>
          </a:p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SQLite demo and test mode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75969-794F-40B2-8BF2-547A9FC9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68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16271"/>
                </a:solidFill>
                <a:latin typeface="Arial"/>
                <a:ea typeface="Arial"/>
                <a:cs typeface="Arial"/>
              </a:rPr>
              <a:t>Flow: browser or API → Flask blueprint → validation/service → SQLAlchemy models → database → derived analytics and charts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F7F591-4931-45BA-A3FF-D3E0A4A8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Home Budget  |  3</a:t>
            </a:r>
          </a:p>
        </p:txBody>
      </p:sp>
    </p:spTree>
    <p:extLst>
      <p:ext uri="{BB962C8B-B14F-4D97-AF65-F5344CB8AC3E}">
        <p14:creationId xmlns:p14="http://schemas.microsoft.com/office/powerpoint/2010/main" val="13983596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2AEDB-AAFA-44A0-9962-DDE8F266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8E9F0-D844-4A4A-BBB9-E8ED988D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Three normalized tables preserve categories, records, and month-specific allocations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CE012-1FF8-436E-B6DA-E4B42A74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0EF7C-FEA4-45AB-800C-496DE8B8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categories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22C09-7E46-46C9-A65D-DD72568E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id, name, kind, created_at</a:t>
            </a:r>
          </a:p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Unique: name + kind</a:t>
            </a:r>
          </a:p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One category classifies transactions and budgets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11489-A2FC-45B2-A856-CA9759F8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00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transactions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DCF28-7F3D-4A23-A456-3EB7A339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857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id, date, type, category_id</a:t>
            </a:r>
          </a:p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DECIMAL(12,2) amount</a:t>
            </a:r>
          </a:p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description, payment method, timestamps</a:t>
            </a:r>
          </a:p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Date/type index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F9B94-E01B-49EB-8152-22655320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00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monthly_budgets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258337-287D-4DC9-8575-BE9BD65B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id, category_id, month, year</a:t>
            </a:r>
          </a:p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DECIMAL(12,2) amount</a:t>
            </a:r>
          </a:p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Unique: category + month + year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1D048-ACDC-4814-BE22-87282E36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Foreign keys use restricted deletion so historic reports keep valid category references.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718BE9-C2D8-44B2-8786-7E312291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Home Budget  |  4</a:t>
            </a:r>
          </a:p>
        </p:txBody>
      </p:sp>
    </p:spTree>
    <p:extLst>
      <p:ext uri="{BB962C8B-B14F-4D97-AF65-F5344CB8AC3E}">
        <p14:creationId xmlns:p14="http://schemas.microsoft.com/office/powerpoint/2010/main" val="8771476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674B31-C13B-400B-BDB4-2494A726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Financial calculations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861E9-0388-41F4-BB48-A085BA2A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Each metric uses database records and returns guarded, two-decimal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B6923-B94A-4BD4-B84C-A6ACC657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A86F9-BE99-4296-93D5-C33F6B96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Net savings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B2323-C7F4-41FA-8394-874138D4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Income − Expenses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C91C3-7E53-4186-BF36-13BB73B8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Savings 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A74C5-12AD-4283-96B3-3F0CD04E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(Net savings ÷ Income) × 100; returns 0% when income is zero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48A5B-E201-4905-8634-6A933104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Budget utilization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B6E7B-CA5B-4B06-8832-FD0D3BFE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(Actual category expense ÷ Budget) × 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0DC37-1372-455C-A5E8-0C2BDF24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Remaining budget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5C5CE-9078-42B3-A1B9-2D75C3D4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100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Budget − Actual expense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059D04-89CC-4D68-82A4-C5A11967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Budget variance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63E22-03D9-41EA-B664-073BEED1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767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Actual expense − Budget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ECD6AA-7BF9-4EA7-A49A-5E69BF19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78A20"/>
                </a:solidFill>
                <a:latin typeface="Arial"/>
                <a:ea typeface="Arial"/>
                <a:cs typeface="Arial"/>
              </a:rPr>
              <a:t>Example: ₹5,000 budget and ₹5,750 actual expense means ₹750 overspending and 115% utilization.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C3EFD8-E362-4361-A434-369F8C95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Home Budget  |  5</a:t>
            </a:r>
          </a:p>
        </p:txBody>
      </p:sp>
    </p:spTree>
    <p:extLst>
      <p:ext uri="{BB962C8B-B14F-4D97-AF65-F5344CB8AC3E}">
        <p14:creationId xmlns:p14="http://schemas.microsoft.com/office/powerpoint/2010/main" val="124732424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E40FB-DDE9-41AB-8BCF-41A10F94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Verified sample-data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2DD0B-6B82-467B-BC29-33B08DF0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Synthetic July–October 2026 records produced reproducible monthly totals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8C1B0-7A3E-4859-AA40-F27F344B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17BF0699-DD3C-4632-95E7-DFCF65066065}"/>
              </a:ext>
            </a:extLst>
          </p:cNvPr>
          <p:cNvGraphicFramePr/>
          <p:nvPr/>
        </p:nvGraphicFramePr>
        <p:xfrm>
          <a:off xmlns:a="http://schemas.openxmlformats.org/drawingml/2006/main" x="723900" y="1762125"/>
          <a:ext xmlns:a="http://schemas.openxmlformats.org/drawingml/2006/main" cx="61912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0d69977f7d443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F82E0-ACC0-4A63-9456-5D15F943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62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Recorded totals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46F94-08F3-4461-B8CA-CACCFDB1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3238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Income: ₹280,500</a:t>
            </a:r>
          </a:p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Expenses: ₹111,950</a:t>
            </a:r>
          </a:p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Savings: ₹168,550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Highest spending category:</a:t>
            </a:r>
          </a:p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Rent and Housing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7AF4E-1271-4115-A53A-46F440E5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91125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Chart data comes from the idempotent demo seed, not hard-coded dashboard values.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A2C779-F738-4441-88D6-C1AAF124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Home Budget  |  6</a:t>
            </a:r>
          </a:p>
        </p:txBody>
      </p:sp>
    </p:spTree>
    <p:extLst>
      <p:ext uri="{BB962C8B-B14F-4D97-AF65-F5344CB8AC3E}">
        <p14:creationId xmlns:p14="http://schemas.microsoft.com/office/powerpoint/2010/main" val="5372732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F61876-DF7D-4A34-82CB-15462390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Live visualizations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22D74-C110-4BE0-8DF9-7A4B9F80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Charts use selected stored records and show no-data states when no records match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28BF2-35E3-483F-9EC6-32822C3F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47C74-F7D9-4DDA-9975-716E29BE92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14b7a5b1bf4213"/>
          <a:stretch xmlns:a="http://schemas.openxmlformats.org/drawingml/2006/main"/>
        </p:blipFill>
        <p:spPr>
          <a:xfrm xmlns:a="http://schemas.openxmlformats.org/drawingml/2006/main">
            <a:off x="1354396" y="1695450"/>
            <a:ext cx="3730108" cy="3333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48B83-7370-470B-BB6E-1FF78394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16271"/>
                </a:solidFill>
                <a:latin typeface="Arial"/>
                <a:ea typeface="Arial"/>
                <a:cs typeface="Arial"/>
              </a:rPr>
              <a:t>Expense distribution by category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D9A7A-53B0-4C17-8AEF-AD07809240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905063aca4019"/>
          <a:stretch xmlns:a="http://schemas.openxmlformats.org/drawingml/2006/main"/>
        </p:blipFill>
        <p:spPr>
          <a:xfrm xmlns:a="http://schemas.openxmlformats.org/drawingml/2006/main">
            <a:off x="6381750" y="1934351"/>
            <a:ext cx="5143500" cy="285594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49195-2D84-4374-B215-1D9E6FA3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82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16271"/>
                </a:solidFill>
                <a:latin typeface="Arial"/>
                <a:ea typeface="Arial"/>
                <a:cs typeface="Arial"/>
              </a:rPr>
              <a:t>Monthly income versus expenses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E8D9A-0470-469D-BA2C-FA810211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Each chart names its subject, identifies INR where applicable, and uses records retrieved from the database.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8FA31-E3FF-48EA-A43A-9023F88A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Home Budget  |  7</a:t>
            </a:r>
          </a:p>
        </p:txBody>
      </p:sp>
    </p:spTree>
    <p:extLst>
      <p:ext uri="{BB962C8B-B14F-4D97-AF65-F5344CB8AC3E}">
        <p14:creationId xmlns:p14="http://schemas.microsoft.com/office/powerpoint/2010/main" val="702228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48C6B-9669-43E7-96CE-6096A382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Live visualizations 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95DBA-0B93-4BBB-B7ED-D9CBD115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Budget exceptions become visible alongside longer-term savings movement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35E75-D490-4CDA-B2F6-01556738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4D411-EDC2-418E-A03E-5FBBCC16EB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60fc56e244ec1"/>
          <a:stretch xmlns:a="http://schemas.openxmlformats.org/drawingml/2006/main"/>
        </p:blipFill>
        <p:spPr>
          <a:xfrm xmlns:a="http://schemas.openxmlformats.org/drawingml/2006/main">
            <a:off x="647700" y="1934351"/>
            <a:ext cx="5143500" cy="285594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CFD0C-3D0F-4F8E-8700-6B376988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16271"/>
                </a:solidFill>
                <a:latin typeface="Arial"/>
                <a:ea typeface="Arial"/>
                <a:cs typeface="Arial"/>
              </a:rPr>
              <a:t>Monthly savings trend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B12EB-39A2-4D4B-8E2E-E09575DED8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65a65d8c514ac2"/>
          <a:stretch xmlns:a="http://schemas.openxmlformats.org/drawingml/2006/main"/>
        </p:blipFill>
        <p:spPr>
          <a:xfrm xmlns:a="http://schemas.openxmlformats.org/drawingml/2006/main">
            <a:off x="6381750" y="1935644"/>
            <a:ext cx="5143500" cy="285336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5945C-FE92-4432-A272-BF2E8B7E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82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16271"/>
                </a:solidFill>
                <a:latin typeface="Arial"/>
                <a:ea typeface="Arial"/>
                <a:cs typeface="Arial"/>
              </a:rPr>
              <a:t>Budget versus actual spending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C725D-0DB2-444D-A3DB-7C928504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October Grocery spending exceeds its ₹5,000 budget. Rent matches its ₹18,000 demo allocation.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97853A-8538-4616-AE03-83185265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Home Budget  |  8</a:t>
            </a:r>
          </a:p>
        </p:txBody>
      </p:sp>
    </p:spTree>
    <p:extLst>
      <p:ext uri="{BB962C8B-B14F-4D97-AF65-F5344CB8AC3E}">
        <p14:creationId xmlns:p14="http://schemas.microsoft.com/office/powerpoint/2010/main" val="2056118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0E6B77-E1EC-4524-9A8D-7922EF84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Test evidence and reliability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0C279-DE6F-44F7-8CA3-205F383B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Final local test run: 6 passed in 2.91 seconds on 2026-10-29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6371D-C33E-45C2-A728-2A51CFC1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402DC-E985-4FDB-BBA2-C5B98C53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Transaction CRUD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532C4-BE02-4348-8918-5E776C30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478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Create, filter, update, delete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EDE92-D1F8-4A6B-816A-D5FD02A9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478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A3E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4521D-BEB2-4AC3-8F4F-9EA3D4BA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Invalid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E329E-FE7F-4ADF-A8CA-8CA75F94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193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Bad dates, wrong categories, zero amounts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935BE-647F-461B-8683-16585675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193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A3E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04DB1-5257-4F8A-9509-ACA30316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Monthly budgets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54D1C-15A6-41E8-9ADF-5F60F36C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9908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Duplicate prevention and 150% overspend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D0A951-9964-45AA-83A2-4EC15541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908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A3E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30DAF-32E6-4D5C-9D86-A185B1FC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E8CC20-91CD-4E2E-9EC4-3274EF23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623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CSV formula injection escaping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8DA774-BBF1-4472-BE7F-ACAAB773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623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A3E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58CC03-0052-4546-AD1C-E47F4CEC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E6F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6F5C"/>
                </a:solidFill>
                <a:latin typeface="Arial"/>
                <a:ea typeface="Arial"/>
                <a:cs typeface="Arial"/>
              </a:rPr>
              <a:t>Analytics and charts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1C8045-1785-44FB-9A3D-2C4AE030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1338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Zero-data values and four chart outputs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EF237B-025E-45F5-9472-289C9F53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338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7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7A3E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330BEB-E7B9-400D-9FBA-1569E3FA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Controls: environment variables for secrets, SQLAlchemy parameterization, server-side validation, database constraints, CSRF tokens for browser forms, safe error messages.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A7E473-3941-4E34-AD8C-1F71B904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Home Budget  |  9</a:t>
            </a:r>
          </a:p>
        </p:txBody>
      </p:sp>
    </p:spTree>
    <p:extLst>
      <p:ext uri="{BB962C8B-B14F-4D97-AF65-F5344CB8AC3E}">
        <p14:creationId xmlns:p14="http://schemas.microsoft.com/office/powerpoint/2010/main" val="19980398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BE00F-9DE5-49BF-A8BA-BA8F5C15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63D"/>
                </a:solidFill>
                <a:latin typeface="Arial"/>
                <a:ea typeface="Arial"/>
                <a:cs typeface="Arial"/>
              </a:rPr>
              <a:t>Demonstration and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7AC9F-69D3-4995-BCC0-9CBBD864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858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The implementation supports a complete local workflow from record entry to verified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4DCE6-C56D-431A-A5CC-34D51A3E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F5C"/>
          </a:solidFill>
          <a:ln xmlns:a="http://schemas.openxmlformats.org/drawingml/2006/main" w="0">
            <a:solidFill>
              <a:srgbClr val="1E6F5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7350F-8347-46AD-A1C1-65AD5059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573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Initialize database and load repeatable demo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871BD-7528-4B09-9B26-640F5DBB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717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Add income and expense records, then confirm dashboard totals change.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81C67-AE83-462B-858E-FF6440D2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860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Set a category budget and observe an overspend alert.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0C694-43B5-4209-9A8A-4A61C68A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04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Review analytics, inspect a chart, and export a filtered report.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314E19-C95D-4450-9CC6-AE6F099E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147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• Run pytest and explain the evidence and known limitations.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AFB41-712B-4DD7-9CA0-74E453F6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C78A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78A20"/>
                </a:solidFill>
                <a:latin typeface="Arial"/>
                <a:ea typeface="Arial"/>
                <a:cs typeface="Arial"/>
              </a:rPr>
              <a:t>Known limitation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1A3A85-B4A8-4234-A8B0-45FCA06C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326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63D"/>
                </a:solidFill>
                <a:latin typeface="Arial"/>
                <a:ea typeface="Arial"/>
                <a:cs typeface="Arial"/>
              </a:rPr>
              <a:t>MySQL support is implemented but not verified in this workspace because no MySQL server or credentials were configured. SQLite validates the local demonstration path.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22941-E55F-488C-B4A6-51399B7A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1627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6271"/>
                </a:solidFill>
                <a:latin typeface="Arial"/>
                <a:ea typeface="Arial"/>
                <a:cs typeface="Arial"/>
              </a:rPr>
              <a:t>Home Budget  |  10</a:t>
            </a:r>
          </a:p>
        </p:txBody>
      </p:sp>
    </p:spTree>
    <p:extLst>
      <p:ext uri="{BB962C8B-B14F-4D97-AF65-F5344CB8AC3E}">
        <p14:creationId xmlns:p14="http://schemas.microsoft.com/office/powerpoint/2010/main" val="20611788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2026-10-29T13:56:25.9150000Z</dcterms:created>
  <dcterms:modified xsi:type="dcterms:W3CDTF">2026-10-29T13:56:25.9150000Z</dcterms:modified>
</coreProperties>
</file>